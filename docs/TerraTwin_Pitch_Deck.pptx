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4332"/>
                </a:solidFill>
                <a:latin typeface="Cambria"/>
              </a:defRPr>
            </a:pPr>
            <a:r>
              <a:rPr sz="1400" b="0" i="0" u="none" strike="noStrike">
                <a:solidFill>
                  <a:srgbClr val="1B4332"/>
                </a:solidFill>
                <a:latin typeface="Cambria"/>
              </a:rPr>
              <a:t>Weight per dimension (points)</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40916C"/>
            </a:solidFill>
            <a:effectLst/>
          </c:spPr>
          <c:invertIfNegative val="0"/>
          <c:dLbls>
            <c:numFmt formatCode="#,##0" sourceLinked="0"/>
            <c:txPr>
              <a:bodyPr/>
              <a:lstStyle/>
              <a:p>
                <a:pPr>
                  <a:defRPr b="0" i="0" strike="noStrike" sz="1100" u="none">
                    <a:solidFill>
                      <a:srgbClr val="5A5248"/>
                    </a:solidFill>
                    <a:latin typeface="Calibri"/>
                  </a:defRPr>
                </a:pPr>
              </a:p>
            </c:txPr>
            <c:showLegendKey val="0"/>
            <c:showVal val="1"/>
            <c:showCatName val="0"/>
            <c:showSerName val="0"/>
            <c:showPercent val="0"/>
            <c:showBubbleSize val="0"/>
            <c:showLeaderLines val="0"/>
          </c:dLbls>
          <c:dPt>
            <c:idx val="0"/>
            <c:invertIfNegative val="0"/>
            <c:bubble3D val="0"/>
            <c:spPr>
              <a:solidFill>
                <a:srgbClr val="40916C"/>
              </a:solidFill>
              <a:effectLst/>
            </c:spPr>
          </c:dPt>
          <c:dPt>
            <c:idx val="1"/>
            <c:invertIfNegative val="0"/>
            <c:bubble3D val="0"/>
            <c:spPr>
              <a:solidFill>
                <a:srgbClr val="7C9A5E"/>
              </a:solidFill>
              <a:effectLst/>
            </c:spPr>
          </c:dPt>
          <c:dPt>
            <c:idx val="2"/>
            <c:invertIfNegative val="0"/>
            <c:bubble3D val="0"/>
            <c:spPr>
              <a:solidFill>
                <a:srgbClr val="D9A63F"/>
              </a:solidFill>
              <a:effectLst/>
            </c:spPr>
          </c:dPt>
          <c:dPt>
            <c:idx val="3"/>
            <c:invertIfNegative val="0"/>
            <c:bubble3D val="0"/>
            <c:spPr>
              <a:solidFill>
                <a:srgbClr val="B5825C"/>
              </a:solidFill>
              <a:effectLst/>
            </c:spPr>
          </c:dPt>
          <c:dPt>
            <c:idx val="4"/>
            <c:invertIfNegative val="0"/>
            <c:bubble3D val="0"/>
            <c:spPr>
              <a:solidFill>
                <a:srgbClr val="A8BF92"/>
              </a:solidFill>
              <a:effectLst/>
            </c:spPr>
          </c:dPt>
          <c:cat>
            <c:multiLvlStrRef>
              <c:f>Sheet1!$A$2:$A$6</c:f>
              <c:multiLvlStrCache>
                <c:ptCount val="5"/>
                <c:lvl>
                  <c:pt idx="0">
                    <c:v>Data</c:v>
                  </c:pt>
                  <c:pt idx="1">
                    <c:v>Infrastructure</c:v>
                  </c:pt>
                  <c:pt idx="2">
                    <c:v>Governance</c:v>
                  </c:pt>
                  <c:pt idx="3">
                    <c:v>Skills</c:v>
                  </c:pt>
                  <c:pt idx="4">
                    <c:v>Sandbox</c:v>
                  </c:pt>
                </c:lvl>
              </c:multiLvlStrCache>
            </c:multiLvlStrRef>
          </c:cat>
          <c:val>
            <c:numRef>
              <c:f>Sheet1!$B$2:$B$6</c:f>
              <c:numCache>
                <c:formatCode>General</c:formatCode>
                <c:ptCount val="5"/>
                <c:pt idx="0">
                  <c:v>30</c:v>
                </c:pt>
                <c:pt idx="1">
                  <c:v>20</c:v>
                </c:pt>
                <c:pt idx="2">
                  <c:v>20</c:v>
                </c:pt>
                <c:pt idx="3">
                  <c:v>15</c:v>
                </c:pt>
                <c:pt idx="4">
                  <c:v>15</c:v>
                </c:pt>
              </c:numCache>
            </c:numRef>
          </c:val>
        </c:ser>
        <c:dLbls>
          <c:numFmt formatCode="#,##0" sourceLinked="0"/>
          <c:txPr>
            <a:bodyPr/>
            <a:lstStyle/>
            <a:p>
              <a:pPr>
                <a:defRPr b="0" i="0" strike="noStrike" sz="1100" u="none">
                  <a:solidFill>
                    <a:srgbClr val="5A524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41F1A"/>
                </a:solidFill>
                <a:latin typeface="Calibri"/>
              </a:defRPr>
            </a:pPr>
            <a:endParaRPr lang="en-US"/>
          </a:p>
        </c:txPr>
        <c:crossAx val="2094734552"/>
        <c:crosses val="autoZero"/>
        <c:auto val="1"/>
        <c:lblAlgn val="ctr"/>
        <c:noMultiLvlLbl val="1"/>
      </c:catAx>
      <c:valAx>
        <c:axId val="2094734552"/>
        <c:scaling>
          <c:orientation val="minMax"/>
          <c:max val="35"/>
        </c:scaling>
        <c:delete val="0"/>
        <c:axPos val="b"/>
        <c:majorGridlines>
          <c:spPr>
            <a:ln w="12700" cap="flat">
              <a:solidFill>
                <a:srgbClr val="EFE8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B8073"/>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TerraTwin. An AI readiness digital twin for farms in Jazan, Saudi Arabia, built on ITU-T Y.3172. The one line to remember: test the decision before you test the crop. My name is Wanas Zakri and this is a solo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failures, not one. The farm is not ready to receive AI, and the farmer has no safe place to be wrong. Jazan sharpens both because five farming systems sit inside one administrative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sub-regions, each with its own soils, elevation and temperature baseline. The simulator models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Measure, rehearse, operate. The third is the design argument: readiness data a farmer assembles specially gets assembled once. Readiness data that accumulates because they are already using the tool stays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questions, five dimensions, one hundred points. Data carries the largest weight at thirty because everything downstream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sandbox is playable. That matters — a farmer who has lost a simulated season to over-irrigation understands salinity in a way no leaflet achieves.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nodes, plus the MLFO and the Sandbox. The Policy node is the one the judges should watch — it is where refusal becomes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fallback is the point. The vision model is better; the offline path is what makes it usable on a farm with no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alert types, each with its action. The rain-skip button is the one to demo: it moves the schedule and shows the litres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Forum and market. The voice note is the feature I would defend hardest — it is what makes the tool reachable for the growers with the most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audiences. The middle column is the one that matters to a hackathon judge: the tool generates its own successor's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Ownership, accreditation, granularity of measurement, and the standing of sandbox evidence. All four came out of building the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architecture argument: the rule-based model is a placeholder by design, and the application is already gathering the data that replaces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5-image-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soil-bowl.png">    </p:cNvPr>
          <p:cNvPicPr>
            <a:picLocks noChangeAspect="1"/>
          </p:cNvPicPr>
          <p:nvPr/>
        </p:nvPicPr>
        <p:blipFill>
          <a:blip r:embed="rId2"/>
          <a:stretch>
            <a:fillRect/>
          </a:stretch>
        </p:blipFill>
        <p:spPr>
          <a:xfrm>
            <a:off x="7818120" y="3977640"/>
            <a:ext cx="3931920" cy="2862072"/>
          </a:xfrm>
          <a:prstGeom prst="rect">
            <a:avLst/>
          </a:prstGeom>
        </p:spPr>
      </p:pic>
      <p:pic>
        <p:nvPicPr>
          <p:cNvPr id="3" name="Image 1" descr="/home/claude/deck/assets/coffee-healthy.png">    </p:cNvPr>
          <p:cNvPicPr>
            <a:picLocks noChangeAspect="1"/>
          </p:cNvPicPr>
          <p:nvPr/>
        </p:nvPicPr>
        <p:blipFill>
          <a:blip r:embed="rId3"/>
          <a:stretch>
            <a:fillRect/>
          </a:stretch>
        </p:blipFill>
        <p:spPr>
          <a:xfrm>
            <a:off x="8915400" y="1691640"/>
            <a:ext cx="1783080" cy="1975104"/>
          </a:xfrm>
          <a:prstGeom prst="rect">
            <a:avLst/>
          </a:prstGeom>
        </p:spPr>
      </p:pic>
      <p:sp>
        <p:nvSpPr>
          <p:cNvPr id="4" name="Shape 0"/>
          <p:cNvSpPr/>
          <p:nvPr/>
        </p:nvSpPr>
        <p:spPr>
          <a:xfrm>
            <a:off x="777240" y="658368"/>
            <a:ext cx="566928" cy="566928"/>
          </a:xfrm>
          <a:prstGeom prst="roundRect">
            <a:avLst>
              <a:gd name="adj" fmla="val 20968"/>
            </a:avLst>
          </a:prstGeom>
          <a:solidFill>
            <a:srgbClr val="DCE8CF"/>
          </a:solidFill>
          <a:ln/>
        </p:spPr>
      </p:sp>
      <p:sp>
        <p:nvSpPr>
          <p:cNvPr id="5" name="Text 1"/>
          <p:cNvSpPr txBox="1"/>
          <p:nvPr/>
        </p:nvSpPr>
        <p:spPr>
          <a:xfrm>
            <a:off x="777240" y="658368"/>
            <a:ext cx="566928" cy="566928"/>
          </a:xfrm>
          <a:prstGeom prst="rect">
            <a:avLst/>
          </a:prstGeom>
          <a:noFill/>
          <a:ln/>
        </p:spPr>
        <p:txBody>
          <a:bodyPr wrap="square" lIns="0" tIns="0" rIns="0" bIns="0" rtlCol="0" anchor="ctr"/>
          <a:lstStyle/>
          <a:p>
            <a:pPr algn="ctr" indent="0" marL="0">
              <a:buNone/>
            </a:pPr>
            <a:r>
              <a:rPr lang="en-US" sz="2600" b="1" dirty="0">
                <a:solidFill>
                  <a:srgbClr val="1B4332"/>
                </a:solidFill>
                <a:latin typeface="Cambria" pitchFamily="34" charset="0"/>
                <a:ea typeface="Cambria" pitchFamily="34" charset="-122"/>
                <a:cs typeface="Cambria" pitchFamily="34" charset="-120"/>
              </a:rPr>
              <a:t>T</a:t>
            </a:r>
            <a:endParaRPr lang="en-US" sz="2600" dirty="0"/>
          </a:p>
        </p:txBody>
      </p:sp>
      <p:sp>
        <p:nvSpPr>
          <p:cNvPr id="6" name="Text 2"/>
          <p:cNvSpPr txBox="1"/>
          <p:nvPr/>
        </p:nvSpPr>
        <p:spPr>
          <a:xfrm>
            <a:off x="1490472" y="676656"/>
            <a:ext cx="3657600" cy="53035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TerraTwin</a:t>
            </a:r>
            <a:endParaRPr lang="en-US" sz="2400" dirty="0"/>
          </a:p>
        </p:txBody>
      </p:sp>
      <p:sp>
        <p:nvSpPr>
          <p:cNvPr id="7" name="Text 3"/>
          <p:cNvSpPr txBox="1"/>
          <p:nvPr/>
        </p:nvSpPr>
        <p:spPr>
          <a:xfrm>
            <a:off x="777240" y="2148840"/>
            <a:ext cx="8229600" cy="256032"/>
          </a:xfrm>
          <a:prstGeom prst="rect">
            <a:avLst/>
          </a:prstGeom>
          <a:noFill/>
          <a:ln/>
        </p:spPr>
        <p:txBody>
          <a:bodyPr wrap="square" lIns="0" tIns="0" rIns="0" bIns="0" rtlCol="0" anchor="ctr"/>
          <a:lstStyle/>
          <a:p>
            <a:pPr indent="0" marL="0">
              <a:buNone/>
            </a:pPr>
            <a:r>
              <a:rPr lang="en-US" sz="1100" b="1" spc="260" kern="0" dirty="0">
                <a:solidFill>
                  <a:srgbClr val="A8BF92"/>
                </a:solidFill>
                <a:latin typeface="Calibri" pitchFamily="34" charset="0"/>
                <a:ea typeface="Calibri" pitchFamily="34" charset="-122"/>
                <a:cs typeface="Calibri" pitchFamily="34" charset="-120"/>
              </a:rPr>
              <a:t>ITU AI READINESS HACKATHON — KINGDOM OF SAUDI ARABIA</a:t>
            </a:r>
            <a:endParaRPr lang="en-US" sz="1100" dirty="0"/>
          </a:p>
        </p:txBody>
      </p:sp>
      <p:sp>
        <p:nvSpPr>
          <p:cNvPr id="8" name="Text 4"/>
          <p:cNvSpPr txBox="1"/>
          <p:nvPr/>
        </p:nvSpPr>
        <p:spPr>
          <a:xfrm>
            <a:off x="777240" y="2542032"/>
            <a:ext cx="7315200" cy="22860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Test the decision</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before you test</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crop.</a:t>
            </a:r>
            <a:endParaRPr lang="en-US" sz="5000" dirty="0"/>
          </a:p>
        </p:txBody>
      </p:sp>
      <p:sp>
        <p:nvSpPr>
          <p:cNvPr id="9" name="Text 5"/>
          <p:cNvSpPr txBox="1"/>
          <p:nvPr/>
        </p:nvSpPr>
        <p:spPr>
          <a:xfrm>
            <a:off x="777240" y="4983480"/>
            <a:ext cx="6583680" cy="731520"/>
          </a:xfrm>
          <a:prstGeom prst="rect">
            <a:avLst/>
          </a:prstGeom>
          <a:noFill/>
          <a:ln/>
        </p:spPr>
        <p:txBody>
          <a:bodyPr wrap="square" lIns="0" tIns="0" rIns="0" bIns="0" rtlCol="0" anchor="ctr"/>
          <a:lstStyle/>
          <a:p>
            <a:pPr indent="0" marL="0">
              <a:lnSpc>
                <a:spcPts val="2200"/>
              </a:lnSpc>
              <a:buNone/>
            </a:pPr>
            <a:r>
              <a:rPr lang="en-US" sz="1500" dirty="0">
                <a:solidFill>
                  <a:srgbClr val="DCE8CF"/>
                </a:solidFill>
                <a:latin typeface="Calibri" pitchFamily="34" charset="0"/>
                <a:ea typeface="Calibri" pitchFamily="34" charset="-122"/>
                <a:cs typeface="Calibri" pitchFamily="34" charset="-120"/>
              </a:rPr>
              <a:t>An AI readiness digital twin for sustainable agriculture in Jazan, Saudi Arabia. Built on Recommendation ITU-T Y.3172.</a:t>
            </a:r>
            <a:endParaRPr lang="en-US" sz="1500" dirty="0"/>
          </a:p>
        </p:txBody>
      </p:sp>
      <p:sp>
        <p:nvSpPr>
          <p:cNvPr id="10" name="Shape 6"/>
          <p:cNvSpPr/>
          <p:nvPr/>
        </p:nvSpPr>
        <p:spPr>
          <a:xfrm>
            <a:off x="777240" y="5806440"/>
            <a:ext cx="3291840" cy="0"/>
          </a:xfrm>
          <a:prstGeom prst="line">
            <a:avLst/>
          </a:prstGeom>
          <a:noFill/>
          <a:ln w="25400">
            <a:solidFill>
              <a:srgbClr val="40916C"/>
            </a:solidFill>
            <a:prstDash val="solid"/>
          </a:ln>
        </p:spPr>
      </p:sp>
      <p:sp>
        <p:nvSpPr>
          <p:cNvPr id="11" name="Text 7"/>
          <p:cNvSpPr txBox="1"/>
          <p:nvPr/>
        </p:nvSpPr>
        <p:spPr>
          <a:xfrm>
            <a:off x="777240" y="5943600"/>
            <a:ext cx="45720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Wanas Zakri</a:t>
            </a:r>
            <a:endParaRPr lang="en-US" sz="1400" dirty="0"/>
          </a:p>
        </p:txBody>
      </p:sp>
      <p:sp>
        <p:nvSpPr>
          <p:cNvPr id="12" name="Text 8"/>
          <p:cNvSpPr txBox="1"/>
          <p:nvPr/>
        </p:nvSpPr>
        <p:spPr>
          <a:xfrm>
            <a:off x="777240" y="6254496"/>
            <a:ext cx="5486400" cy="274320"/>
          </a:xfrm>
          <a:prstGeom prst="rect">
            <a:avLst/>
          </a:prstGeom>
          <a:noFill/>
          <a:ln/>
        </p:spPr>
        <p:txBody>
          <a:bodyPr wrap="square" lIns="0" tIns="0" rIns="0" bIns="0" rtlCol="0" anchor="ctr"/>
          <a:lstStyle/>
          <a:p>
            <a:pPr indent="0" marL="0">
              <a:lnSpc>
                <a:spcPts val="2100"/>
              </a:lnSpc>
              <a:buNone/>
            </a:pPr>
            <a:r>
              <a:rPr lang="en-US" sz="1150" dirty="0">
                <a:solidFill>
                  <a:srgbClr val="A8BF92"/>
                </a:solidFill>
                <a:latin typeface="Calibri" pitchFamily="34" charset="0"/>
                <a:ea typeface="Calibri" pitchFamily="34" charset="-122"/>
                <a:cs typeface="Calibri" pitchFamily="34" charset="-120"/>
              </a:rPr>
              <a:t>Management Information Systems · Jazan University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AI reaches the farm as an order, not a conversation</a:t>
            </a:r>
            <a:endParaRPr lang="en-US" sz="3800" dirty="0"/>
          </a:p>
        </p:txBody>
      </p:sp>
      <p:sp>
        <p:nvSpPr>
          <p:cNvPr id="4" name="Shape 2"/>
          <p:cNvSpPr/>
          <p:nvPr/>
        </p:nvSpPr>
        <p:spPr>
          <a:xfrm>
            <a:off x="777240" y="2084832"/>
            <a:ext cx="4937760" cy="2377440"/>
          </a:xfrm>
          <a:prstGeom prst="roundRect">
            <a:avLst>
              <a:gd name="adj" fmla="val 5385"/>
            </a:avLst>
          </a:prstGeom>
          <a:solidFill>
            <a:srgbClr val="FFFFFF"/>
          </a:solidFill>
          <a:ln/>
          <a:effectLst>
            <a:outerShdw sx="100000" sy="100000" kx="0" ky="0" algn="bl" rotWithShape="0" blurRad="152400" dist="38100" dir="5400000">
              <a:srgbClr val="3A2A1C">
                <a:alpha val="10000"/>
              </a:srgbClr>
            </a:outerShdw>
          </a:effectLst>
        </p:spPr>
      </p:sp>
      <p:sp>
        <p:nvSpPr>
          <p:cNvPr id="5" name="Shape 3"/>
          <p:cNvSpPr/>
          <p:nvPr/>
        </p:nvSpPr>
        <p:spPr>
          <a:xfrm>
            <a:off x="1161288" y="2395728"/>
            <a:ext cx="566928" cy="566928"/>
          </a:xfrm>
          <a:prstGeom prst="ellipse">
            <a:avLst/>
          </a:prstGeom>
          <a:solidFill>
            <a:srgbClr val="C4625A"/>
          </a:solidFill>
          <a:ln/>
        </p:spPr>
      </p:sp>
      <p:sp>
        <p:nvSpPr>
          <p:cNvPr id="6" name="Text 4"/>
          <p:cNvSpPr txBox="1"/>
          <p:nvPr/>
        </p:nvSpPr>
        <p:spPr>
          <a:xfrm>
            <a:off x="1161288" y="239572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txBox="1"/>
          <p:nvPr/>
        </p:nvSpPr>
        <p:spPr>
          <a:xfrm>
            <a:off x="1892808" y="2450592"/>
            <a:ext cx="3474720" cy="457200"/>
          </a:xfrm>
          <a:prstGeom prst="rect">
            <a:avLst/>
          </a:prstGeom>
          <a:noFill/>
          <a:ln/>
        </p:spPr>
        <p:txBody>
          <a:bodyPr wrap="square" lIns="0" tIns="0" rIns="0" bIns="0" rtlCol="0" anchor="ctr"/>
          <a:lstStyle/>
          <a:p>
            <a:pPr indent="0" marL="0">
              <a:buNone/>
            </a:pPr>
            <a:r>
              <a:rPr lang="en-US" sz="1900" b="1" dirty="0">
                <a:solidFill>
                  <a:srgbClr val="1B4332"/>
                </a:solidFill>
                <a:latin typeface="Cambria" pitchFamily="34" charset="0"/>
                <a:ea typeface="Cambria" pitchFamily="34" charset="-122"/>
                <a:cs typeface="Cambria" pitchFamily="34" charset="-120"/>
              </a:rPr>
              <a:t>The farm cannot receive it</a:t>
            </a:r>
            <a:endParaRPr lang="en-US" sz="1900" dirty="0"/>
          </a:p>
        </p:txBody>
      </p:sp>
      <p:sp>
        <p:nvSpPr>
          <p:cNvPr id="8" name="Text 6"/>
          <p:cNvSpPr txBox="1"/>
          <p:nvPr/>
        </p:nvSpPr>
        <p:spPr>
          <a:xfrm>
            <a:off x="1161288" y="3154680"/>
            <a:ext cx="4206240" cy="1188720"/>
          </a:xfrm>
          <a:prstGeom prst="rect">
            <a:avLst/>
          </a:prstGeom>
          <a:noFill/>
          <a:ln/>
        </p:spPr>
        <p:txBody>
          <a:bodyPr wrap="square" lIns="0" tIns="0" rIns="0" bIns="0" rtlCol="0" anchor="ctr"/>
          <a:lstStyle/>
          <a:p>
            <a:pPr indent="0" marL="0">
              <a:lnSpc>
                <a:spcPts val="1900"/>
              </a:lnSpc>
              <a:buNone/>
            </a:pPr>
            <a:r>
              <a:rPr lang="en-US" sz="1300" dirty="0">
                <a:solidFill>
                  <a:srgbClr val="5A5248"/>
                </a:solidFill>
                <a:latin typeface="Calibri" pitchFamily="34" charset="0"/>
                <a:ea typeface="Calibri" pitchFamily="34" charset="-122"/>
                <a:cs typeface="Calibri" pitchFamily="34" charset="-120"/>
              </a:rPr>
              <a:t>No soil-moisture history, no field connectivity, no sensor coverage, and no settled answer to who owns the data. A model trained on someone else's ground is deployed onto a farm that can neither feed it nor check it — and it fails quietly, which is worse than failing loudly.</a:t>
            </a:r>
            <a:endParaRPr lang="en-US" sz="1300" dirty="0"/>
          </a:p>
        </p:txBody>
      </p:sp>
      <p:sp>
        <p:nvSpPr>
          <p:cNvPr id="9" name="Shape 7"/>
          <p:cNvSpPr/>
          <p:nvPr/>
        </p:nvSpPr>
        <p:spPr>
          <a:xfrm>
            <a:off x="6126480" y="2084832"/>
            <a:ext cx="4937760" cy="2377440"/>
          </a:xfrm>
          <a:prstGeom prst="roundRect">
            <a:avLst>
              <a:gd name="adj" fmla="val 5385"/>
            </a:avLst>
          </a:prstGeom>
          <a:solidFill>
            <a:srgbClr val="FFFFFF"/>
          </a:solidFill>
          <a:ln/>
          <a:effectLst>
            <a:outerShdw sx="100000" sy="100000" kx="0" ky="0" algn="bl" rotWithShape="0" blurRad="152400" dist="38100" dir="5400000">
              <a:srgbClr val="3A2A1C">
                <a:alpha val="10000"/>
              </a:srgbClr>
            </a:outerShdw>
          </a:effectLst>
        </p:spPr>
      </p:sp>
      <p:sp>
        <p:nvSpPr>
          <p:cNvPr id="10" name="Shape 8"/>
          <p:cNvSpPr/>
          <p:nvPr/>
        </p:nvSpPr>
        <p:spPr>
          <a:xfrm>
            <a:off x="6510528" y="2395728"/>
            <a:ext cx="566928" cy="566928"/>
          </a:xfrm>
          <a:prstGeom prst="ellipse">
            <a:avLst/>
          </a:prstGeom>
          <a:solidFill>
            <a:srgbClr val="D9A63F"/>
          </a:solidFill>
          <a:ln/>
        </p:spPr>
      </p:sp>
      <p:sp>
        <p:nvSpPr>
          <p:cNvPr id="11" name="Text 9"/>
          <p:cNvSpPr txBox="1"/>
          <p:nvPr/>
        </p:nvSpPr>
        <p:spPr>
          <a:xfrm>
            <a:off x="6510528" y="239572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txBox="1"/>
          <p:nvPr/>
        </p:nvSpPr>
        <p:spPr>
          <a:xfrm>
            <a:off x="7242048" y="2450592"/>
            <a:ext cx="3474720" cy="457200"/>
          </a:xfrm>
          <a:prstGeom prst="rect">
            <a:avLst/>
          </a:prstGeom>
          <a:noFill/>
          <a:ln/>
        </p:spPr>
        <p:txBody>
          <a:bodyPr wrap="square" lIns="0" tIns="0" rIns="0" bIns="0" rtlCol="0" anchor="ctr"/>
          <a:lstStyle/>
          <a:p>
            <a:pPr indent="0" marL="0">
              <a:buNone/>
            </a:pPr>
            <a:r>
              <a:rPr lang="en-US" sz="1900" b="1" dirty="0">
                <a:solidFill>
                  <a:srgbClr val="1B4332"/>
                </a:solidFill>
                <a:latin typeface="Cambria" pitchFamily="34" charset="0"/>
                <a:ea typeface="Cambria" pitchFamily="34" charset="-122"/>
                <a:cs typeface="Cambria" pitchFamily="34" charset="-120"/>
              </a:rPr>
              <a:t>The farmer cannot be wrong safely</a:t>
            </a:r>
            <a:endParaRPr lang="en-US" sz="1900" dirty="0"/>
          </a:p>
        </p:txBody>
      </p:sp>
      <p:sp>
        <p:nvSpPr>
          <p:cNvPr id="13" name="Text 11"/>
          <p:cNvSpPr txBox="1"/>
          <p:nvPr/>
        </p:nvSpPr>
        <p:spPr>
          <a:xfrm>
            <a:off x="6510528" y="3154680"/>
            <a:ext cx="4206240" cy="1188720"/>
          </a:xfrm>
          <a:prstGeom prst="rect">
            <a:avLst/>
          </a:prstGeom>
          <a:noFill/>
          <a:ln/>
        </p:spPr>
        <p:txBody>
          <a:bodyPr wrap="square" lIns="0" tIns="0" rIns="0" bIns="0" rtlCol="0" anchor="ctr"/>
          <a:lstStyle/>
          <a:p>
            <a:pPr indent="0" marL="0">
              <a:lnSpc>
                <a:spcPts val="1900"/>
              </a:lnSpc>
              <a:buNone/>
            </a:pPr>
            <a:r>
              <a:rPr lang="en-US" sz="1300" dirty="0">
                <a:solidFill>
                  <a:srgbClr val="5A5248"/>
                </a:solidFill>
                <a:latin typeface="Calibri" pitchFamily="34" charset="0"/>
                <a:ea typeface="Calibri" pitchFamily="34" charset="-122"/>
                <a:cs typeface="Calibri" pitchFamily="34" charset="-120"/>
              </a:rPr>
              <a:t>On a smallholding a mistaken irrigation is not a poor output on a screen; it is a lost season on a holding that had one. Between accepting a recommendation and living with it there is a single growing cycle, and no rehearsal space in between.</a:t>
            </a:r>
            <a:endParaRPr lang="en-US" sz="1300" dirty="0"/>
          </a:p>
        </p:txBody>
      </p:sp>
      <p:sp>
        <p:nvSpPr>
          <p:cNvPr id="14" name="Shape 12"/>
          <p:cNvSpPr/>
          <p:nvPr/>
        </p:nvSpPr>
        <p:spPr>
          <a:xfrm>
            <a:off x="777240" y="4754880"/>
            <a:ext cx="10607040" cy="1207008"/>
          </a:xfrm>
          <a:prstGeom prst="roundRect">
            <a:avLst>
              <a:gd name="adj" fmla="val 10606"/>
            </a:avLst>
          </a:prstGeom>
          <a:solidFill>
            <a:srgbClr val="1B4332"/>
          </a:solidFill>
          <a:ln/>
        </p:spPr>
      </p:sp>
      <p:sp>
        <p:nvSpPr>
          <p:cNvPr id="15" name="Text 13"/>
          <p:cNvSpPr txBox="1"/>
          <p:nvPr/>
        </p:nvSpPr>
        <p:spPr>
          <a:xfrm>
            <a:off x="1188720" y="4956048"/>
            <a:ext cx="4023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Jazan makes both sharper.</a:t>
            </a:r>
            <a:endParaRPr lang="en-US" sz="1700" dirty="0"/>
          </a:p>
        </p:txBody>
      </p:sp>
      <p:sp>
        <p:nvSpPr>
          <p:cNvPr id="16" name="Text 14"/>
          <p:cNvSpPr txBox="1"/>
          <p:nvPr/>
        </p:nvSpPr>
        <p:spPr>
          <a:xfrm>
            <a:off x="1188720" y="5340096"/>
            <a:ext cx="9784080" cy="566928"/>
          </a:xfrm>
          <a:prstGeom prst="rect">
            <a:avLst/>
          </a:prstGeom>
          <a:noFill/>
          <a:ln/>
        </p:spPr>
        <p:txBody>
          <a:bodyPr wrap="square" lIns="0" tIns="0" rIns="0" bIns="0" rtlCol="0" anchor="ctr"/>
          <a:lstStyle/>
          <a:p>
            <a:pPr indent="0" marL="0">
              <a:lnSpc>
                <a:spcPts val="1800"/>
              </a:lnSpc>
              <a:buNone/>
            </a:pPr>
            <a:r>
              <a:rPr lang="en-US" sz="1300" dirty="0">
                <a:solidFill>
                  <a:srgbClr val="DCE8CF"/>
                </a:solidFill>
                <a:latin typeface="Calibri" pitchFamily="34" charset="0"/>
                <a:ea typeface="Calibri" pitchFamily="34" charset="-122"/>
                <a:cs typeface="Calibri" pitchFamily="34" charset="-120"/>
              </a:rPr>
              <a:t>Five different farming systems inside one region — humid coast, wadi floodplain, inland plain, foothill and highland terrace — sharing a market and a ministry but almost nothing agronomically. Advice built for one part of it can be actively harmful in another.</a:t>
            </a:r>
            <a:endParaRPr lang="en-US" sz="1300" dirty="0"/>
          </a:p>
        </p:txBody>
      </p:sp>
      <p:sp>
        <p:nvSpPr>
          <p:cNvPr id="17" name="Text 15"/>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18" name="Text 16"/>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THE GROUND</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One region, five farming systems</a:t>
            </a:r>
            <a:endParaRPr lang="en-US" sz="3800" dirty="0"/>
          </a:p>
        </p:txBody>
      </p:sp>
      <p:sp>
        <p:nvSpPr>
          <p:cNvPr id="4" name="Text 2"/>
          <p:cNvSpPr txBox="1"/>
          <p:nvPr/>
        </p:nvSpPr>
        <p:spPr>
          <a:xfrm>
            <a:off x="777240" y="1810512"/>
            <a:ext cx="8778240" cy="548640"/>
          </a:xfrm>
          <a:prstGeom prst="rect">
            <a:avLst/>
          </a:prstGeom>
          <a:noFill/>
          <a:ln/>
        </p:spPr>
        <p:txBody>
          <a:bodyPr wrap="square" lIns="0" tIns="0" rIns="0" bIns="0" rtlCol="0" anchor="ctr"/>
          <a:lstStyle/>
          <a:p>
            <a:pPr indent="0" marL="0">
              <a:lnSpc>
                <a:spcPts val="2100"/>
              </a:lnSpc>
              <a:buNone/>
            </a:pPr>
            <a:r>
              <a:rPr lang="en-US" sz="1400" dirty="0">
                <a:solidFill>
                  <a:srgbClr val="5A5248"/>
                </a:solidFill>
                <a:latin typeface="Calibri" pitchFamily="34" charset="0"/>
                <a:ea typeface="Calibri" pitchFamily="34" charset="-122"/>
                <a:cs typeface="Calibri" pitchFamily="34" charset="-120"/>
              </a:rPr>
              <a:t>Every figure in the application is set against the sub-region it belongs to. Site is chosen before seed — you cannot move the land, so the land decides what is sensible to plant in it.</a:t>
            </a:r>
            <a:endParaRPr lang="en-US" sz="1400" dirty="0"/>
          </a:p>
        </p:txBody>
      </p:sp>
      <p:sp>
        <p:nvSpPr>
          <p:cNvPr id="5" name="Shape 3"/>
          <p:cNvSpPr/>
          <p:nvPr/>
        </p:nvSpPr>
        <p:spPr>
          <a:xfrm>
            <a:off x="777240" y="2606040"/>
            <a:ext cx="1975104" cy="3063240"/>
          </a:xfrm>
          <a:prstGeom prst="roundRect">
            <a:avLst>
              <a:gd name="adj" fmla="val 6481"/>
            </a:avLst>
          </a:prstGeom>
          <a:solidFill>
            <a:srgbClr val="FFFFFF"/>
          </a:solidFill>
          <a:ln/>
          <a:effectLst>
            <a:outerShdw sx="100000" sy="100000" kx="0" ky="0" algn="bl" rotWithShape="0" blurRad="152400" dist="38100" dir="5400000">
              <a:srgbClr val="3A2A1C">
                <a:alpha val="10000"/>
              </a:srgbClr>
            </a:outerShdw>
          </a:effectLst>
        </p:spPr>
      </p:sp>
      <p:sp>
        <p:nvSpPr>
          <p:cNvPr id="6" name="Shape 4"/>
          <p:cNvSpPr/>
          <p:nvPr/>
        </p:nvSpPr>
        <p:spPr>
          <a:xfrm>
            <a:off x="1033272" y="2852928"/>
            <a:ext cx="384048" cy="384048"/>
          </a:xfrm>
          <a:prstGeom prst="ellipse">
            <a:avLst/>
          </a:prstGeom>
          <a:solidFill>
            <a:srgbClr val="B5825C"/>
          </a:solidFill>
          <a:ln/>
        </p:spPr>
      </p:sp>
      <p:sp>
        <p:nvSpPr>
          <p:cNvPr id="7" name="Text 5"/>
          <p:cNvSpPr txBox="1"/>
          <p:nvPr/>
        </p:nvSpPr>
        <p:spPr>
          <a:xfrm>
            <a:off x="1033272" y="3364992"/>
            <a:ext cx="1554480" cy="566928"/>
          </a:xfrm>
          <a:prstGeom prst="rect">
            <a:avLst/>
          </a:prstGeom>
          <a:noFill/>
          <a:ln/>
        </p:spPr>
        <p:txBody>
          <a:bodyPr wrap="square" lIns="0" tIns="0" rIns="0" bIns="0" rtlCol="0" anchor="ctr"/>
          <a:lstStyle/>
          <a:p>
            <a:pPr indent="0" marL="0">
              <a:lnSpc>
                <a:spcPts val="1700"/>
              </a:lnSpc>
              <a:buNone/>
            </a:pPr>
            <a:r>
              <a:rPr lang="en-US" sz="1450" b="1" dirty="0">
                <a:solidFill>
                  <a:srgbClr val="1B4332"/>
                </a:solidFill>
                <a:latin typeface="Cambria" pitchFamily="34" charset="0"/>
                <a:ea typeface="Cambria" pitchFamily="34" charset="-122"/>
                <a:cs typeface="Cambria" pitchFamily="34" charset="-120"/>
              </a:rPr>
              <a:t>Tihama Coast</a:t>
            </a:r>
            <a:endParaRPr lang="en-US" sz="1450" dirty="0"/>
          </a:p>
        </p:txBody>
      </p:sp>
      <p:sp>
        <p:nvSpPr>
          <p:cNvPr id="8" name="Text 6"/>
          <p:cNvSpPr txBox="1"/>
          <p:nvPr/>
        </p:nvSpPr>
        <p:spPr>
          <a:xfrm>
            <a:off x="1033272" y="3950208"/>
            <a:ext cx="1554480" cy="219456"/>
          </a:xfrm>
          <a:prstGeom prst="rect">
            <a:avLst/>
          </a:prstGeom>
          <a:noFill/>
          <a:ln/>
        </p:spPr>
        <p:txBody>
          <a:bodyPr wrap="square" lIns="0" tIns="0" rIns="0" bIns="0" rtlCol="0" anchor="ctr"/>
          <a:lstStyle/>
          <a:p>
            <a:pPr indent="0" marL="0">
              <a:lnSpc>
                <a:spcPts val="2100"/>
              </a:lnSpc>
              <a:buNone/>
            </a:pPr>
            <a:r>
              <a:rPr lang="en-US" sz="1050" b="1" dirty="0">
                <a:solidFill>
                  <a:srgbClr val="40916C"/>
                </a:solidFill>
                <a:latin typeface="Calibri" pitchFamily="34" charset="0"/>
                <a:ea typeface="Calibri" pitchFamily="34" charset="-122"/>
                <a:cs typeface="Calibri" pitchFamily="34" charset="-120"/>
              </a:rPr>
              <a:t>~20 m · 33 °C</a:t>
            </a:r>
            <a:endParaRPr lang="en-US" sz="1050" dirty="0"/>
          </a:p>
        </p:txBody>
      </p:sp>
      <p:sp>
        <p:nvSpPr>
          <p:cNvPr id="9" name="Text 7"/>
          <p:cNvSpPr txBox="1"/>
          <p:nvPr/>
        </p:nvSpPr>
        <p:spPr>
          <a:xfrm>
            <a:off x="1033272" y="4224528"/>
            <a:ext cx="1481328" cy="1280160"/>
          </a:xfrm>
          <a:prstGeom prst="rect">
            <a:avLst/>
          </a:prstGeom>
          <a:noFill/>
          <a:ln/>
        </p:spPr>
        <p:txBody>
          <a:bodyPr wrap="square" lIns="0" tIns="0" rIns="0" bIns="0" rtlCol="0" anchor="ctr"/>
          <a:lstStyle/>
          <a:p>
            <a:pPr indent="0" marL="0">
              <a:lnSpc>
                <a:spcPts val="1500"/>
              </a:lnSpc>
              <a:buNone/>
            </a:pPr>
            <a:r>
              <a:rPr lang="en-US" sz="1100" dirty="0">
                <a:solidFill>
                  <a:srgbClr val="5A5248"/>
                </a:solidFill>
                <a:latin typeface="Calibri" pitchFamily="34" charset="0"/>
                <a:ea typeface="Calibri" pitchFamily="34" charset="-122"/>
                <a:cs typeface="Calibri" pitchFamily="34" charset="-120"/>
              </a:rPr>
              <a:t>Hot, humid Red Sea plain. Sandy, fast-draining soils — mango and banana country.</a:t>
            </a:r>
            <a:endParaRPr lang="en-US" sz="1100" dirty="0"/>
          </a:p>
        </p:txBody>
      </p:sp>
      <p:sp>
        <p:nvSpPr>
          <p:cNvPr id="10" name="Shape 8"/>
          <p:cNvSpPr/>
          <p:nvPr/>
        </p:nvSpPr>
        <p:spPr>
          <a:xfrm>
            <a:off x="2935224" y="2606040"/>
            <a:ext cx="1975104" cy="3063240"/>
          </a:xfrm>
          <a:prstGeom prst="roundRect">
            <a:avLst>
              <a:gd name="adj" fmla="val 6481"/>
            </a:avLst>
          </a:prstGeom>
          <a:solidFill>
            <a:srgbClr val="FFFFFF"/>
          </a:solidFill>
          <a:ln/>
          <a:effectLst>
            <a:outerShdw sx="100000" sy="100000" kx="0" ky="0" algn="bl" rotWithShape="0" blurRad="152400" dist="38100" dir="5400000">
              <a:srgbClr val="3A2A1C">
                <a:alpha val="10000"/>
              </a:srgbClr>
            </a:outerShdw>
          </a:effectLst>
        </p:spPr>
      </p:sp>
      <p:sp>
        <p:nvSpPr>
          <p:cNvPr id="11" name="Shape 9"/>
          <p:cNvSpPr/>
          <p:nvPr/>
        </p:nvSpPr>
        <p:spPr>
          <a:xfrm>
            <a:off x="3191256" y="2852928"/>
            <a:ext cx="384048" cy="384048"/>
          </a:xfrm>
          <a:prstGeom prst="ellipse">
            <a:avLst/>
          </a:prstGeom>
          <a:solidFill>
            <a:srgbClr val="7C9A5E"/>
          </a:solidFill>
          <a:ln/>
        </p:spPr>
      </p:sp>
      <p:sp>
        <p:nvSpPr>
          <p:cNvPr id="12" name="Text 10"/>
          <p:cNvSpPr txBox="1"/>
          <p:nvPr/>
        </p:nvSpPr>
        <p:spPr>
          <a:xfrm>
            <a:off x="3191256" y="3364992"/>
            <a:ext cx="1554480" cy="566928"/>
          </a:xfrm>
          <a:prstGeom prst="rect">
            <a:avLst/>
          </a:prstGeom>
          <a:noFill/>
          <a:ln/>
        </p:spPr>
        <p:txBody>
          <a:bodyPr wrap="square" lIns="0" tIns="0" rIns="0" bIns="0" rtlCol="0" anchor="ctr"/>
          <a:lstStyle/>
          <a:p>
            <a:pPr indent="0" marL="0">
              <a:lnSpc>
                <a:spcPts val="1700"/>
              </a:lnSpc>
              <a:buNone/>
            </a:pPr>
            <a:r>
              <a:rPr lang="en-US" sz="1450" b="1" dirty="0">
                <a:solidFill>
                  <a:srgbClr val="1B4332"/>
                </a:solidFill>
                <a:latin typeface="Cambria" pitchFamily="34" charset="0"/>
                <a:ea typeface="Cambria" pitchFamily="34" charset="-122"/>
                <a:cs typeface="Cambria" pitchFamily="34" charset="-120"/>
              </a:rPr>
              <a:t>Wadi Sabya</a:t>
            </a:r>
            <a:endParaRPr lang="en-US" sz="1450" dirty="0"/>
          </a:p>
        </p:txBody>
      </p:sp>
      <p:sp>
        <p:nvSpPr>
          <p:cNvPr id="13" name="Text 11"/>
          <p:cNvSpPr txBox="1"/>
          <p:nvPr/>
        </p:nvSpPr>
        <p:spPr>
          <a:xfrm>
            <a:off x="3191256" y="3950208"/>
            <a:ext cx="1554480" cy="219456"/>
          </a:xfrm>
          <a:prstGeom prst="rect">
            <a:avLst/>
          </a:prstGeom>
          <a:noFill/>
          <a:ln/>
        </p:spPr>
        <p:txBody>
          <a:bodyPr wrap="square" lIns="0" tIns="0" rIns="0" bIns="0" rtlCol="0" anchor="ctr"/>
          <a:lstStyle/>
          <a:p>
            <a:pPr indent="0" marL="0">
              <a:lnSpc>
                <a:spcPts val="2100"/>
              </a:lnSpc>
              <a:buNone/>
            </a:pPr>
            <a:r>
              <a:rPr lang="en-US" sz="1050" b="1" dirty="0">
                <a:solidFill>
                  <a:srgbClr val="40916C"/>
                </a:solidFill>
                <a:latin typeface="Calibri" pitchFamily="34" charset="0"/>
                <a:ea typeface="Calibri" pitchFamily="34" charset="-122"/>
                <a:cs typeface="Calibri" pitchFamily="34" charset="-120"/>
              </a:rPr>
              <a:t>~120 m · 32 °C</a:t>
            </a:r>
            <a:endParaRPr lang="en-US" sz="1050" dirty="0"/>
          </a:p>
        </p:txBody>
      </p:sp>
      <p:sp>
        <p:nvSpPr>
          <p:cNvPr id="14" name="Text 12"/>
          <p:cNvSpPr txBox="1"/>
          <p:nvPr/>
        </p:nvSpPr>
        <p:spPr>
          <a:xfrm>
            <a:off x="3191256" y="4224528"/>
            <a:ext cx="1481328" cy="1280160"/>
          </a:xfrm>
          <a:prstGeom prst="rect">
            <a:avLst/>
          </a:prstGeom>
          <a:noFill/>
          <a:ln/>
        </p:spPr>
        <p:txBody>
          <a:bodyPr wrap="square" lIns="0" tIns="0" rIns="0" bIns="0" rtlCol="0" anchor="ctr"/>
          <a:lstStyle/>
          <a:p>
            <a:pPr indent="0" marL="0">
              <a:lnSpc>
                <a:spcPts val="1500"/>
              </a:lnSpc>
              <a:buNone/>
            </a:pPr>
            <a:r>
              <a:rPr lang="en-US" sz="1100" dirty="0">
                <a:solidFill>
                  <a:srgbClr val="5A5248"/>
                </a:solidFill>
                <a:latin typeface="Calibri" pitchFamily="34" charset="0"/>
                <a:ea typeface="Calibri" pitchFamily="34" charset="-122"/>
                <a:cs typeface="Calibri" pitchFamily="34" charset="-120"/>
              </a:rPr>
              <a:t>Seasonal floodplain fed by highland runoff. Deep silt loam — the most fertile farmland in the region.</a:t>
            </a:r>
            <a:endParaRPr lang="en-US" sz="1100" dirty="0"/>
          </a:p>
        </p:txBody>
      </p:sp>
      <p:sp>
        <p:nvSpPr>
          <p:cNvPr id="15" name="Shape 13"/>
          <p:cNvSpPr/>
          <p:nvPr/>
        </p:nvSpPr>
        <p:spPr>
          <a:xfrm>
            <a:off x="5093208" y="2606040"/>
            <a:ext cx="1975104" cy="3063240"/>
          </a:xfrm>
          <a:prstGeom prst="roundRect">
            <a:avLst>
              <a:gd name="adj" fmla="val 6481"/>
            </a:avLst>
          </a:prstGeom>
          <a:solidFill>
            <a:srgbClr val="FFFFFF"/>
          </a:solidFill>
          <a:ln/>
          <a:effectLst>
            <a:outerShdw sx="100000" sy="100000" kx="0" ky="0" algn="bl" rotWithShape="0" blurRad="152400" dist="38100" dir="5400000">
              <a:srgbClr val="3A2A1C">
                <a:alpha val="10000"/>
              </a:srgbClr>
            </a:outerShdw>
          </a:effectLst>
        </p:spPr>
      </p:sp>
      <p:sp>
        <p:nvSpPr>
          <p:cNvPr id="16" name="Shape 14"/>
          <p:cNvSpPr/>
          <p:nvPr/>
        </p:nvSpPr>
        <p:spPr>
          <a:xfrm>
            <a:off x="5349240" y="2852928"/>
            <a:ext cx="384048" cy="384048"/>
          </a:xfrm>
          <a:prstGeom prst="ellipse">
            <a:avLst/>
          </a:prstGeom>
          <a:solidFill>
            <a:srgbClr val="D9A63F"/>
          </a:solidFill>
          <a:ln/>
        </p:spPr>
      </p:sp>
      <p:sp>
        <p:nvSpPr>
          <p:cNvPr id="17" name="Text 15"/>
          <p:cNvSpPr txBox="1"/>
          <p:nvPr/>
        </p:nvSpPr>
        <p:spPr>
          <a:xfrm>
            <a:off x="5349240" y="3364992"/>
            <a:ext cx="1554480" cy="566928"/>
          </a:xfrm>
          <a:prstGeom prst="rect">
            <a:avLst/>
          </a:prstGeom>
          <a:noFill/>
          <a:ln/>
        </p:spPr>
        <p:txBody>
          <a:bodyPr wrap="square" lIns="0" tIns="0" rIns="0" bIns="0" rtlCol="0" anchor="ctr"/>
          <a:lstStyle/>
          <a:p>
            <a:pPr indent="0" marL="0">
              <a:lnSpc>
                <a:spcPts val="1700"/>
              </a:lnSpc>
              <a:buNone/>
            </a:pPr>
            <a:r>
              <a:rPr lang="en-US" sz="1450" b="1" dirty="0">
                <a:solidFill>
                  <a:srgbClr val="1B4332"/>
                </a:solidFill>
                <a:latin typeface="Cambria" pitchFamily="34" charset="0"/>
                <a:ea typeface="Cambria" pitchFamily="34" charset="-122"/>
                <a:cs typeface="Cambria" pitchFamily="34" charset="-120"/>
              </a:rPr>
              <a:t>Abu Arish Plain</a:t>
            </a:r>
            <a:endParaRPr lang="en-US" sz="1450" dirty="0"/>
          </a:p>
        </p:txBody>
      </p:sp>
      <p:sp>
        <p:nvSpPr>
          <p:cNvPr id="18" name="Text 16"/>
          <p:cNvSpPr txBox="1"/>
          <p:nvPr/>
        </p:nvSpPr>
        <p:spPr>
          <a:xfrm>
            <a:off x="5349240" y="3950208"/>
            <a:ext cx="1554480" cy="219456"/>
          </a:xfrm>
          <a:prstGeom prst="rect">
            <a:avLst/>
          </a:prstGeom>
          <a:noFill/>
          <a:ln/>
        </p:spPr>
        <p:txBody>
          <a:bodyPr wrap="square" lIns="0" tIns="0" rIns="0" bIns="0" rtlCol="0" anchor="ctr"/>
          <a:lstStyle/>
          <a:p>
            <a:pPr indent="0" marL="0">
              <a:lnSpc>
                <a:spcPts val="2100"/>
              </a:lnSpc>
              <a:buNone/>
            </a:pPr>
            <a:r>
              <a:rPr lang="en-US" sz="1050" b="1" dirty="0">
                <a:solidFill>
                  <a:srgbClr val="40916C"/>
                </a:solidFill>
                <a:latin typeface="Calibri" pitchFamily="34" charset="0"/>
                <a:ea typeface="Calibri" pitchFamily="34" charset="-122"/>
                <a:cs typeface="Calibri" pitchFamily="34" charset="-120"/>
              </a:rPr>
              <a:t>~90 m · 33 °C</a:t>
            </a:r>
            <a:endParaRPr lang="en-US" sz="1050" dirty="0"/>
          </a:p>
        </p:txBody>
      </p:sp>
      <p:sp>
        <p:nvSpPr>
          <p:cNvPr id="19" name="Text 17"/>
          <p:cNvSpPr txBox="1"/>
          <p:nvPr/>
        </p:nvSpPr>
        <p:spPr>
          <a:xfrm>
            <a:off x="5349240" y="4224528"/>
            <a:ext cx="1481328" cy="1280160"/>
          </a:xfrm>
          <a:prstGeom prst="rect">
            <a:avLst/>
          </a:prstGeom>
          <a:noFill/>
          <a:ln/>
        </p:spPr>
        <p:txBody>
          <a:bodyPr wrap="square" lIns="0" tIns="0" rIns="0" bIns="0" rtlCol="0" anchor="ctr"/>
          <a:lstStyle/>
          <a:p>
            <a:pPr indent="0" marL="0">
              <a:lnSpc>
                <a:spcPts val="1500"/>
              </a:lnSpc>
              <a:buNone/>
            </a:pPr>
            <a:r>
              <a:rPr lang="en-US" sz="1100" dirty="0">
                <a:solidFill>
                  <a:srgbClr val="5A5248"/>
                </a:solidFill>
                <a:latin typeface="Calibri" pitchFamily="34" charset="0"/>
                <a:ea typeface="Calibri" pitchFamily="34" charset="-122"/>
                <a:cs typeface="Calibri" pitchFamily="34" charset="-120"/>
              </a:rPr>
              <a:t>Open inland plain. Heavier clay soils, irrigated field cropping — sorghum, sesame, fodder.</a:t>
            </a:r>
            <a:endParaRPr lang="en-US" sz="1100" dirty="0"/>
          </a:p>
        </p:txBody>
      </p:sp>
      <p:sp>
        <p:nvSpPr>
          <p:cNvPr id="20" name="Shape 18"/>
          <p:cNvSpPr/>
          <p:nvPr/>
        </p:nvSpPr>
        <p:spPr>
          <a:xfrm>
            <a:off x="7251192" y="2606040"/>
            <a:ext cx="1975104" cy="3063240"/>
          </a:xfrm>
          <a:prstGeom prst="roundRect">
            <a:avLst>
              <a:gd name="adj" fmla="val 6481"/>
            </a:avLst>
          </a:prstGeom>
          <a:solidFill>
            <a:srgbClr val="FFFFFF"/>
          </a:solidFill>
          <a:ln/>
          <a:effectLst>
            <a:outerShdw sx="100000" sy="100000" kx="0" ky="0" algn="bl" rotWithShape="0" blurRad="152400" dist="38100" dir="5400000">
              <a:srgbClr val="3A2A1C">
                <a:alpha val="10000"/>
              </a:srgbClr>
            </a:outerShdw>
          </a:effectLst>
        </p:spPr>
      </p:sp>
      <p:sp>
        <p:nvSpPr>
          <p:cNvPr id="21" name="Shape 19"/>
          <p:cNvSpPr/>
          <p:nvPr/>
        </p:nvSpPr>
        <p:spPr>
          <a:xfrm>
            <a:off x="7507224" y="2852928"/>
            <a:ext cx="384048" cy="384048"/>
          </a:xfrm>
          <a:prstGeom prst="ellipse">
            <a:avLst/>
          </a:prstGeom>
          <a:solidFill>
            <a:srgbClr val="40916C"/>
          </a:solidFill>
          <a:ln/>
        </p:spPr>
      </p:sp>
      <p:sp>
        <p:nvSpPr>
          <p:cNvPr id="22" name="Text 20"/>
          <p:cNvSpPr txBox="1"/>
          <p:nvPr/>
        </p:nvSpPr>
        <p:spPr>
          <a:xfrm>
            <a:off x="7507224" y="3364992"/>
            <a:ext cx="1554480" cy="566928"/>
          </a:xfrm>
          <a:prstGeom prst="rect">
            <a:avLst/>
          </a:prstGeom>
          <a:noFill/>
          <a:ln/>
        </p:spPr>
        <p:txBody>
          <a:bodyPr wrap="square" lIns="0" tIns="0" rIns="0" bIns="0" rtlCol="0" anchor="ctr"/>
          <a:lstStyle/>
          <a:p>
            <a:pPr indent="0" marL="0">
              <a:lnSpc>
                <a:spcPts val="1700"/>
              </a:lnSpc>
              <a:buNone/>
            </a:pPr>
            <a:r>
              <a:rPr lang="en-US" sz="1450" b="1" dirty="0">
                <a:solidFill>
                  <a:srgbClr val="1B4332"/>
                </a:solidFill>
                <a:latin typeface="Cambria" pitchFamily="34" charset="0"/>
                <a:ea typeface="Cambria" pitchFamily="34" charset="-122"/>
                <a:cs typeface="Cambria" pitchFamily="34" charset="-120"/>
              </a:rPr>
              <a:t>Al-Reeth Foothills</a:t>
            </a:r>
            <a:endParaRPr lang="en-US" sz="1450" dirty="0"/>
          </a:p>
        </p:txBody>
      </p:sp>
      <p:sp>
        <p:nvSpPr>
          <p:cNvPr id="23" name="Text 21"/>
          <p:cNvSpPr txBox="1"/>
          <p:nvPr/>
        </p:nvSpPr>
        <p:spPr>
          <a:xfrm>
            <a:off x="7507224" y="3950208"/>
            <a:ext cx="1554480" cy="219456"/>
          </a:xfrm>
          <a:prstGeom prst="rect">
            <a:avLst/>
          </a:prstGeom>
          <a:noFill/>
          <a:ln/>
        </p:spPr>
        <p:txBody>
          <a:bodyPr wrap="square" lIns="0" tIns="0" rIns="0" bIns="0" rtlCol="0" anchor="ctr"/>
          <a:lstStyle/>
          <a:p>
            <a:pPr indent="0" marL="0">
              <a:lnSpc>
                <a:spcPts val="2100"/>
              </a:lnSpc>
              <a:buNone/>
            </a:pPr>
            <a:r>
              <a:rPr lang="en-US" sz="1050" b="1" dirty="0">
                <a:solidFill>
                  <a:srgbClr val="40916C"/>
                </a:solidFill>
                <a:latin typeface="Calibri" pitchFamily="34" charset="0"/>
                <a:ea typeface="Calibri" pitchFamily="34" charset="-122"/>
                <a:cs typeface="Calibri" pitchFamily="34" charset="-120"/>
              </a:rPr>
              <a:t>~900 m · 28 °C</a:t>
            </a:r>
            <a:endParaRPr lang="en-US" sz="1050" dirty="0"/>
          </a:p>
        </p:txBody>
      </p:sp>
      <p:sp>
        <p:nvSpPr>
          <p:cNvPr id="24" name="Text 22"/>
          <p:cNvSpPr txBox="1"/>
          <p:nvPr/>
        </p:nvSpPr>
        <p:spPr>
          <a:xfrm>
            <a:off x="7507224" y="4224528"/>
            <a:ext cx="1481328" cy="1280160"/>
          </a:xfrm>
          <a:prstGeom prst="rect">
            <a:avLst/>
          </a:prstGeom>
          <a:noFill/>
          <a:ln/>
        </p:spPr>
        <p:txBody>
          <a:bodyPr wrap="square" lIns="0" tIns="0" rIns="0" bIns="0" rtlCol="0" anchor="ctr"/>
          <a:lstStyle/>
          <a:p>
            <a:pPr indent="0" marL="0">
              <a:lnSpc>
                <a:spcPts val="1500"/>
              </a:lnSpc>
              <a:buNone/>
            </a:pPr>
            <a:r>
              <a:rPr lang="en-US" sz="1100" dirty="0">
                <a:solidFill>
                  <a:srgbClr val="5A5248"/>
                </a:solidFill>
                <a:latin typeface="Calibri" pitchFamily="34" charset="0"/>
                <a:ea typeface="Calibri" pitchFamily="34" charset="-122"/>
                <a:cs typeface="Calibri" pitchFamily="34" charset="-120"/>
              </a:rPr>
              <a:t>Terraced middle slopes. Cooler nights and monsoon-tail rain in late summer.</a:t>
            </a:r>
            <a:endParaRPr lang="en-US" sz="1100" dirty="0"/>
          </a:p>
        </p:txBody>
      </p:sp>
      <p:sp>
        <p:nvSpPr>
          <p:cNvPr id="25" name="Shape 23"/>
          <p:cNvSpPr/>
          <p:nvPr/>
        </p:nvSpPr>
        <p:spPr>
          <a:xfrm>
            <a:off x="9409176" y="2606040"/>
            <a:ext cx="1975104" cy="3063240"/>
          </a:xfrm>
          <a:prstGeom prst="roundRect">
            <a:avLst>
              <a:gd name="adj" fmla="val 6481"/>
            </a:avLst>
          </a:prstGeom>
          <a:solidFill>
            <a:srgbClr val="FFFFFF"/>
          </a:solidFill>
          <a:ln/>
          <a:effectLst>
            <a:outerShdw sx="100000" sy="100000" kx="0" ky="0" algn="bl" rotWithShape="0" blurRad="152400" dist="38100" dir="5400000">
              <a:srgbClr val="3A2A1C">
                <a:alpha val="10000"/>
              </a:srgbClr>
            </a:outerShdw>
          </a:effectLst>
        </p:spPr>
      </p:sp>
      <p:sp>
        <p:nvSpPr>
          <p:cNvPr id="26" name="Shape 24"/>
          <p:cNvSpPr/>
          <p:nvPr/>
        </p:nvSpPr>
        <p:spPr>
          <a:xfrm>
            <a:off x="9665208" y="2852928"/>
            <a:ext cx="384048" cy="384048"/>
          </a:xfrm>
          <a:prstGeom prst="ellipse">
            <a:avLst/>
          </a:prstGeom>
          <a:solidFill>
            <a:srgbClr val="1B4332"/>
          </a:solidFill>
          <a:ln/>
        </p:spPr>
      </p:sp>
      <p:sp>
        <p:nvSpPr>
          <p:cNvPr id="27" name="Text 25"/>
          <p:cNvSpPr txBox="1"/>
          <p:nvPr/>
        </p:nvSpPr>
        <p:spPr>
          <a:xfrm>
            <a:off x="9665208" y="3364992"/>
            <a:ext cx="1554480" cy="566928"/>
          </a:xfrm>
          <a:prstGeom prst="rect">
            <a:avLst/>
          </a:prstGeom>
          <a:noFill/>
          <a:ln/>
        </p:spPr>
        <p:txBody>
          <a:bodyPr wrap="square" lIns="0" tIns="0" rIns="0" bIns="0" rtlCol="0" anchor="ctr"/>
          <a:lstStyle/>
          <a:p>
            <a:pPr indent="0" marL="0">
              <a:lnSpc>
                <a:spcPts val="1700"/>
              </a:lnSpc>
              <a:buNone/>
            </a:pPr>
            <a:r>
              <a:rPr lang="en-US" sz="1450" b="1" dirty="0">
                <a:solidFill>
                  <a:srgbClr val="1B4332"/>
                </a:solidFill>
                <a:latin typeface="Cambria" pitchFamily="34" charset="0"/>
                <a:ea typeface="Cambria" pitchFamily="34" charset="-122"/>
                <a:cs typeface="Cambria" pitchFamily="34" charset="-120"/>
              </a:rPr>
              <a:t>Fifa Highlands</a:t>
            </a:r>
            <a:endParaRPr lang="en-US" sz="1450" dirty="0"/>
          </a:p>
        </p:txBody>
      </p:sp>
      <p:sp>
        <p:nvSpPr>
          <p:cNvPr id="28" name="Text 26"/>
          <p:cNvSpPr txBox="1"/>
          <p:nvPr/>
        </p:nvSpPr>
        <p:spPr>
          <a:xfrm>
            <a:off x="9665208" y="3950208"/>
            <a:ext cx="1554480" cy="219456"/>
          </a:xfrm>
          <a:prstGeom prst="rect">
            <a:avLst/>
          </a:prstGeom>
          <a:noFill/>
          <a:ln/>
        </p:spPr>
        <p:txBody>
          <a:bodyPr wrap="square" lIns="0" tIns="0" rIns="0" bIns="0" rtlCol="0" anchor="ctr"/>
          <a:lstStyle/>
          <a:p>
            <a:pPr indent="0" marL="0">
              <a:lnSpc>
                <a:spcPts val="2100"/>
              </a:lnSpc>
              <a:buNone/>
            </a:pPr>
            <a:r>
              <a:rPr lang="en-US" sz="1050" b="1" dirty="0">
                <a:solidFill>
                  <a:srgbClr val="40916C"/>
                </a:solidFill>
                <a:latin typeface="Calibri" pitchFamily="34" charset="0"/>
                <a:ea typeface="Calibri" pitchFamily="34" charset="-122"/>
                <a:cs typeface="Calibri" pitchFamily="34" charset="-120"/>
              </a:rPr>
              <a:t>~1,600 m · 24 °C</a:t>
            </a:r>
            <a:endParaRPr lang="en-US" sz="1050" dirty="0"/>
          </a:p>
        </p:txBody>
      </p:sp>
      <p:sp>
        <p:nvSpPr>
          <p:cNvPr id="29" name="Text 27"/>
          <p:cNvSpPr txBox="1"/>
          <p:nvPr/>
        </p:nvSpPr>
        <p:spPr>
          <a:xfrm>
            <a:off x="9665208" y="4224528"/>
            <a:ext cx="1481328" cy="1280160"/>
          </a:xfrm>
          <a:prstGeom prst="rect">
            <a:avLst/>
          </a:prstGeom>
          <a:noFill/>
          <a:ln/>
        </p:spPr>
        <p:txBody>
          <a:bodyPr wrap="square" lIns="0" tIns="0" rIns="0" bIns="0" rtlCol="0" anchor="ctr"/>
          <a:lstStyle/>
          <a:p>
            <a:pPr indent="0" marL="0">
              <a:lnSpc>
                <a:spcPts val="1500"/>
              </a:lnSpc>
              <a:buNone/>
            </a:pPr>
            <a:r>
              <a:rPr lang="en-US" sz="1100" dirty="0">
                <a:solidFill>
                  <a:srgbClr val="5A5248"/>
                </a:solidFill>
                <a:latin typeface="Calibri" pitchFamily="34" charset="0"/>
                <a:ea typeface="Calibri" pitchFamily="34" charset="-122"/>
                <a:cs typeface="Calibri" pitchFamily="34" charset="-120"/>
              </a:rPr>
              <a:t>Cool terraced peaks. Rocky terrace soils — home of Khawlani coffee, inscribed by UNESCO in 2022.</a:t>
            </a:r>
            <a:endParaRPr lang="en-US" sz="1100" dirty="0"/>
          </a:p>
        </p:txBody>
      </p:sp>
      <p:sp>
        <p:nvSpPr>
          <p:cNvPr id="30" name="Text 28"/>
          <p:cNvSpPr txBox="1"/>
          <p:nvPr/>
        </p:nvSpPr>
        <p:spPr>
          <a:xfrm>
            <a:off x="777240" y="5870448"/>
            <a:ext cx="10424160" cy="365760"/>
          </a:xfrm>
          <a:prstGeom prst="rect">
            <a:avLst/>
          </a:prstGeom>
          <a:noFill/>
          <a:ln/>
        </p:spPr>
        <p:txBody>
          <a:bodyPr wrap="square" lIns="0" tIns="0" rIns="0" bIns="0" rtlCol="0" anchor="ctr"/>
          <a:lstStyle/>
          <a:p>
            <a:pPr indent="0" marL="0">
              <a:lnSpc>
                <a:spcPts val="2100"/>
              </a:lnSpc>
              <a:buNone/>
            </a:pPr>
            <a:r>
              <a:rPr lang="en-US" sz="1250" i="1" dirty="0">
                <a:solidFill>
                  <a:srgbClr val="8B8073"/>
                </a:solidFill>
                <a:latin typeface="Calibri" pitchFamily="34" charset="0"/>
                <a:ea typeface="Calibri" pitchFamily="34" charset="-122"/>
                <a:cs typeface="Calibri" pitchFamily="34" charset="-120"/>
              </a:rPr>
              <a:t>Three crops are simulated in depth — Khawlani coffee, mango and corn — across five sub-regions, eleven soils, four seasons and four weather patterns.</a:t>
            </a:r>
            <a:endParaRPr lang="en-US" sz="1250" dirty="0"/>
          </a:p>
        </p:txBody>
      </p:sp>
      <p:sp>
        <p:nvSpPr>
          <p:cNvPr id="31" name="Text 29"/>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32" name="Text 30"/>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A8BF92"/>
                </a:solidFill>
                <a:latin typeface="Calibri" pitchFamily="34" charset="0"/>
                <a:ea typeface="Calibri" pitchFamily="34" charset="-122"/>
                <a:cs typeface="Calibri" pitchFamily="34" charset="-120"/>
              </a:rPr>
              <a:t>THE ANSWER</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step before the recommendation, and one step around it</a:t>
            </a:r>
            <a:endParaRPr lang="en-US" sz="3400" dirty="0"/>
          </a:p>
        </p:txBody>
      </p:sp>
      <p:sp>
        <p:nvSpPr>
          <p:cNvPr id="4" name="Shape 2"/>
          <p:cNvSpPr/>
          <p:nvPr/>
        </p:nvSpPr>
        <p:spPr>
          <a:xfrm>
            <a:off x="777240" y="2148840"/>
            <a:ext cx="9326880" cy="1097280"/>
          </a:xfrm>
          <a:prstGeom prst="roundRect">
            <a:avLst>
              <a:gd name="adj" fmla="val 10000"/>
            </a:avLst>
          </a:prstGeom>
          <a:solidFill>
            <a:srgbClr val="20553C"/>
          </a:solidFill>
          <a:ln/>
        </p:spPr>
      </p:sp>
      <p:sp>
        <p:nvSpPr>
          <p:cNvPr id="5" name="Text 3"/>
          <p:cNvSpPr txBox="1"/>
          <p:nvPr/>
        </p:nvSpPr>
        <p:spPr>
          <a:xfrm>
            <a:off x="1097280" y="2423160"/>
            <a:ext cx="731520" cy="548640"/>
          </a:xfrm>
          <a:prstGeom prst="rect">
            <a:avLst/>
          </a:prstGeom>
          <a:noFill/>
          <a:ln/>
        </p:spPr>
        <p:txBody>
          <a:bodyPr wrap="square" lIns="0" tIns="0" rIns="0" bIns="0" rtlCol="0" anchor="ctr"/>
          <a:lstStyle/>
          <a:p>
            <a:pPr indent="0" marL="0">
              <a:buNone/>
            </a:pPr>
            <a:r>
              <a:rPr lang="en-US" sz="2600" b="1" dirty="0">
                <a:solidFill>
                  <a:srgbClr val="40916C"/>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1920240" y="2313432"/>
            <a:ext cx="786384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Measure whether the farm is ready</a:t>
            </a:r>
            <a:endParaRPr lang="en-US" sz="1700" dirty="0"/>
          </a:p>
        </p:txBody>
      </p:sp>
      <p:sp>
        <p:nvSpPr>
          <p:cNvPr id="7" name="Text 5"/>
          <p:cNvSpPr txBox="1"/>
          <p:nvPr/>
        </p:nvSpPr>
        <p:spPr>
          <a:xfrm>
            <a:off x="1920240" y="2697480"/>
            <a:ext cx="7863840" cy="457200"/>
          </a:xfrm>
          <a:prstGeom prst="rect">
            <a:avLst/>
          </a:prstGeom>
          <a:noFill/>
          <a:ln/>
        </p:spPr>
        <p:txBody>
          <a:bodyPr wrap="square" lIns="0" tIns="0" rIns="0" bIns="0" rtlCol="0" anchor="ctr"/>
          <a:lstStyle/>
          <a:p>
            <a:pPr indent="0" marL="0">
              <a:lnSpc>
                <a:spcPts val="1700"/>
              </a:lnSpc>
              <a:buNone/>
            </a:pPr>
            <a:r>
              <a:rPr lang="en-US" sz="1250" dirty="0">
                <a:solidFill>
                  <a:srgbClr val="DCE8CF"/>
                </a:solidFill>
                <a:latin typeface="Calibri" pitchFamily="34" charset="0"/>
                <a:ea typeface="Calibri" pitchFamily="34" charset="-122"/>
                <a:cs typeface="Calibri" pitchFamily="34" charset="-120"/>
              </a:rPr>
              <a:t>Nineteen questions across five weighted dimensions, scored out of 100, naming the weakest dimension as the priority gap.</a:t>
            </a:r>
            <a:endParaRPr lang="en-US" sz="1250" dirty="0"/>
          </a:p>
        </p:txBody>
      </p:sp>
      <p:sp>
        <p:nvSpPr>
          <p:cNvPr id="8" name="Shape 6"/>
          <p:cNvSpPr/>
          <p:nvPr/>
        </p:nvSpPr>
        <p:spPr>
          <a:xfrm>
            <a:off x="777240" y="3447288"/>
            <a:ext cx="9326880" cy="1097280"/>
          </a:xfrm>
          <a:prstGeom prst="roundRect">
            <a:avLst>
              <a:gd name="adj" fmla="val 10000"/>
            </a:avLst>
          </a:prstGeom>
          <a:solidFill>
            <a:srgbClr val="20553C"/>
          </a:solidFill>
          <a:ln/>
        </p:spPr>
      </p:sp>
      <p:sp>
        <p:nvSpPr>
          <p:cNvPr id="9" name="Text 7"/>
          <p:cNvSpPr txBox="1"/>
          <p:nvPr/>
        </p:nvSpPr>
        <p:spPr>
          <a:xfrm>
            <a:off x="1097280" y="3721608"/>
            <a:ext cx="731520" cy="548640"/>
          </a:xfrm>
          <a:prstGeom prst="rect">
            <a:avLst/>
          </a:prstGeom>
          <a:noFill/>
          <a:ln/>
        </p:spPr>
        <p:txBody>
          <a:bodyPr wrap="square" lIns="0" tIns="0" rIns="0" bIns="0" rtlCol="0" anchor="ctr"/>
          <a:lstStyle/>
          <a:p>
            <a:pPr indent="0" marL="0">
              <a:buNone/>
            </a:pPr>
            <a:r>
              <a:rPr lang="en-US" sz="2600" b="1" dirty="0">
                <a:solidFill>
                  <a:srgbClr val="D9A63F"/>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1920240" y="3611880"/>
            <a:ext cx="786384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Let the decision be rehearsed</a:t>
            </a:r>
            <a:endParaRPr lang="en-US" sz="1700" dirty="0"/>
          </a:p>
        </p:txBody>
      </p:sp>
      <p:sp>
        <p:nvSpPr>
          <p:cNvPr id="11" name="Text 9"/>
          <p:cNvSpPr txBox="1"/>
          <p:nvPr/>
        </p:nvSpPr>
        <p:spPr>
          <a:xfrm>
            <a:off x="1920240" y="3995928"/>
            <a:ext cx="7863840" cy="457200"/>
          </a:xfrm>
          <a:prstGeom prst="rect">
            <a:avLst/>
          </a:prstGeom>
          <a:noFill/>
          <a:ln/>
        </p:spPr>
        <p:txBody>
          <a:bodyPr wrap="square" lIns="0" tIns="0" rIns="0" bIns="0" rtlCol="0" anchor="ctr"/>
          <a:lstStyle/>
          <a:p>
            <a:pPr indent="0" marL="0">
              <a:lnSpc>
                <a:spcPts val="1700"/>
              </a:lnSpc>
              <a:buNone/>
            </a:pPr>
            <a:r>
              <a:rPr lang="en-US" sz="1250" dirty="0">
                <a:solidFill>
                  <a:srgbClr val="DCE8CF"/>
                </a:solidFill>
                <a:latin typeface="Calibri" pitchFamily="34" charset="0"/>
                <a:ea typeface="Calibri" pitchFamily="34" charset="-122"/>
                <a:cs typeface="Calibri" pitchFamily="34" charset="-120"/>
              </a:rPr>
              <a:t>A season simulator where every weekly decision runs the full Y.3172 pipeline and can be refused, visibly, by the Policy node before it reaches the plant.</a:t>
            </a:r>
            <a:endParaRPr lang="en-US" sz="1250" dirty="0"/>
          </a:p>
        </p:txBody>
      </p:sp>
      <p:sp>
        <p:nvSpPr>
          <p:cNvPr id="12" name="Shape 10"/>
          <p:cNvSpPr/>
          <p:nvPr/>
        </p:nvSpPr>
        <p:spPr>
          <a:xfrm>
            <a:off x="777240" y="4745736"/>
            <a:ext cx="9326880" cy="1097280"/>
          </a:xfrm>
          <a:prstGeom prst="roundRect">
            <a:avLst>
              <a:gd name="adj" fmla="val 10000"/>
            </a:avLst>
          </a:prstGeom>
          <a:solidFill>
            <a:srgbClr val="20553C"/>
          </a:solidFill>
          <a:ln/>
        </p:spPr>
      </p:sp>
      <p:sp>
        <p:nvSpPr>
          <p:cNvPr id="13" name="Text 11"/>
          <p:cNvSpPr txBox="1"/>
          <p:nvPr/>
        </p:nvSpPr>
        <p:spPr>
          <a:xfrm>
            <a:off x="1097280" y="5020056"/>
            <a:ext cx="731520" cy="548640"/>
          </a:xfrm>
          <a:prstGeom prst="rect">
            <a:avLst/>
          </a:prstGeom>
          <a:noFill/>
          <a:ln/>
        </p:spPr>
        <p:txBody>
          <a:bodyPr wrap="square" lIns="0" tIns="0" rIns="0" bIns="0" rtlCol="0" anchor="ctr"/>
          <a:lstStyle/>
          <a:p>
            <a:pPr indent="0" marL="0">
              <a:buNone/>
            </a:pPr>
            <a:r>
              <a:rPr lang="en-US" sz="2600" b="1" dirty="0">
                <a:solidFill>
                  <a:srgbClr val="A8BF92"/>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1920240" y="4910328"/>
            <a:ext cx="786384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Run the farm day to day</a:t>
            </a:r>
            <a:endParaRPr lang="en-US" sz="1700" dirty="0"/>
          </a:p>
        </p:txBody>
      </p:sp>
      <p:sp>
        <p:nvSpPr>
          <p:cNvPr id="15" name="Text 13"/>
          <p:cNvSpPr txBox="1"/>
          <p:nvPr/>
        </p:nvSpPr>
        <p:spPr>
          <a:xfrm>
            <a:off x="1920240" y="5294376"/>
            <a:ext cx="7863840" cy="457200"/>
          </a:xfrm>
          <a:prstGeom prst="rect">
            <a:avLst/>
          </a:prstGeom>
          <a:noFill/>
          <a:ln/>
        </p:spPr>
        <p:txBody>
          <a:bodyPr wrap="square" lIns="0" tIns="0" rIns="0" bIns="0" rtlCol="0" anchor="ctr"/>
          <a:lstStyle/>
          <a:p>
            <a:pPr indent="0" marL="0">
              <a:lnSpc>
                <a:spcPts val="1700"/>
              </a:lnSpc>
              <a:buNone/>
            </a:pPr>
            <a:r>
              <a:rPr lang="en-US" sz="1250" dirty="0">
                <a:solidFill>
                  <a:srgbClr val="DCE8CF"/>
                </a:solidFill>
                <a:latin typeface="Calibri" pitchFamily="34" charset="0"/>
                <a:ea typeface="Calibri" pitchFamily="34" charset="-122"/>
                <a:cs typeface="Calibri" pitchFamily="34" charset="-120"/>
              </a:rPr>
              <a:t>Plant register, camera diagnosis, weather alerts, forum and market — so readiness is not a form the farmer fills in, but something the farm demonstrates by being used.</a:t>
            </a:r>
            <a:endParaRPr lang="en-US" sz="1250" dirty="0"/>
          </a:p>
        </p:txBody>
      </p:sp>
      <p:pic>
        <p:nvPicPr>
          <p:cNvPr id="16" name="Image 0" descr="/home/claude/deck/assets/farmy.png">    </p:cNvPr>
          <p:cNvPicPr>
            <a:picLocks noChangeAspect="1"/>
          </p:cNvPicPr>
          <p:nvPr/>
        </p:nvPicPr>
        <p:blipFill>
          <a:blip r:embed="rId2"/>
          <a:stretch>
            <a:fillRect/>
          </a:stretch>
        </p:blipFill>
        <p:spPr>
          <a:xfrm>
            <a:off x="10515600" y="4434840"/>
            <a:ext cx="1188720" cy="1188720"/>
          </a:xfrm>
          <a:prstGeom prst="rect">
            <a:avLst/>
          </a:prstGeom>
        </p:spPr>
      </p:pic>
      <p:sp>
        <p:nvSpPr>
          <p:cNvPr id="17" name="Text 14"/>
          <p:cNvSpPr txBox="1"/>
          <p:nvPr/>
        </p:nvSpPr>
        <p:spPr>
          <a:xfrm>
            <a:off x="9829800" y="5705856"/>
            <a:ext cx="2377440" cy="502920"/>
          </a:xfrm>
          <a:prstGeom prst="rect">
            <a:avLst/>
          </a:prstGeom>
          <a:noFill/>
          <a:ln/>
        </p:spPr>
        <p:txBody>
          <a:bodyPr wrap="square" lIns="0" tIns="0" rIns="0" bIns="0" rtlCol="0" anchor="ctr"/>
          <a:lstStyle/>
          <a:p>
            <a:pPr algn="ctr" indent="0" marL="0">
              <a:lnSpc>
                <a:spcPts val="1400"/>
              </a:lnSpc>
              <a:buNone/>
            </a:pPr>
            <a:r>
              <a:rPr lang="en-US" sz="1100" dirty="0">
                <a:solidFill>
                  <a:srgbClr val="A8BF92"/>
                </a:solidFill>
                <a:latin typeface="Calibri" pitchFamily="34" charset="0"/>
                <a:ea typeface="Calibri" pitchFamily="34" charset="-122"/>
                <a:cs typeface="Calibri" pitchFamily="34" charset="-120"/>
              </a:rPr>
              <a:t>Farmy — the built-in</a:t>
            </a:r>
            <a:endParaRPr lang="en-US" sz="1100" dirty="0"/>
          </a:p>
          <a:p>
            <a:pPr algn="ctr" indent="0" marL="0">
              <a:lnSpc>
                <a:spcPts val="1400"/>
              </a:lnSpc>
              <a:buNone/>
            </a:pPr>
            <a:r>
              <a:rPr lang="en-US" sz="1100" dirty="0">
                <a:solidFill>
                  <a:srgbClr val="A8BF92"/>
                </a:solidFill>
                <a:latin typeface="Calibri" pitchFamily="34" charset="0"/>
                <a:ea typeface="Calibri" pitchFamily="34" charset="-122"/>
                <a:cs typeface="Calibri" pitchFamily="34" charset="-120"/>
              </a:rPr>
              <a:t>assistant, 500+ topics</a:t>
            </a:r>
            <a:endParaRPr lang="en-US" sz="1100" dirty="0"/>
          </a:p>
        </p:txBody>
      </p:sp>
      <p:sp>
        <p:nvSpPr>
          <p:cNvPr id="18" name="Text 15"/>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A8BF92"/>
                </a:solidFill>
                <a:latin typeface="Calibri" pitchFamily="34" charset="0"/>
                <a:ea typeface="Calibri" pitchFamily="34" charset="-122"/>
                <a:cs typeface="Calibri" pitchFamily="34" charset="-120"/>
              </a:rPr>
              <a:t>TerraTwin · Wanas Zakri</a:t>
            </a:r>
            <a:endParaRPr lang="en-US" sz="1000" dirty="0"/>
          </a:p>
        </p:txBody>
      </p:sp>
      <p:sp>
        <p:nvSpPr>
          <p:cNvPr id="19" name="Text 16"/>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A8BF9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LAYER ONE</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The AI readiness scorecard</a:t>
            </a:r>
            <a:endParaRPr lang="en-US" sz="3800" dirty="0"/>
          </a:p>
        </p:txBody>
      </p:sp>
      <p:sp>
        <p:nvSpPr>
          <p:cNvPr id="4" name="Shape 2"/>
          <p:cNvSpPr/>
          <p:nvPr/>
        </p:nvSpPr>
        <p:spPr>
          <a:xfrm>
            <a:off x="777240" y="1920240"/>
            <a:ext cx="3200400" cy="2926080"/>
          </a:xfrm>
          <a:prstGeom prst="roundRect">
            <a:avLst>
              <a:gd name="adj" fmla="val 4375"/>
            </a:avLst>
          </a:prstGeom>
          <a:solidFill>
            <a:srgbClr val="1B4332"/>
          </a:solidFill>
          <a:ln/>
        </p:spPr>
      </p:sp>
      <p:sp>
        <p:nvSpPr>
          <p:cNvPr id="5" name="Text 3"/>
          <p:cNvSpPr txBox="1"/>
          <p:nvPr/>
        </p:nvSpPr>
        <p:spPr>
          <a:xfrm>
            <a:off x="777240" y="2212848"/>
            <a:ext cx="3200400" cy="100584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100</a:t>
            </a:r>
            <a:endParaRPr lang="en-US" sz="6200" dirty="0"/>
          </a:p>
        </p:txBody>
      </p:sp>
      <p:sp>
        <p:nvSpPr>
          <p:cNvPr id="6" name="Text 4"/>
          <p:cNvSpPr txBox="1"/>
          <p:nvPr/>
        </p:nvSpPr>
        <p:spPr>
          <a:xfrm>
            <a:off x="777240" y="3246120"/>
            <a:ext cx="3200400" cy="274320"/>
          </a:xfrm>
          <a:prstGeom prst="rect">
            <a:avLst/>
          </a:prstGeom>
          <a:noFill/>
          <a:ln/>
        </p:spPr>
        <p:txBody>
          <a:bodyPr wrap="square" lIns="0" tIns="0" rIns="0" bIns="0" rtlCol="0" anchor="ctr"/>
          <a:lstStyle/>
          <a:p>
            <a:pPr algn="ctr" indent="0" marL="0">
              <a:lnSpc>
                <a:spcPts val="2100"/>
              </a:lnSpc>
              <a:buNone/>
            </a:pPr>
            <a:r>
              <a:rPr lang="en-US" sz="1100" b="1" dirty="0">
                <a:solidFill>
                  <a:srgbClr val="A8BF92"/>
                </a:solidFill>
                <a:latin typeface="Calibri" pitchFamily="34" charset="0"/>
                <a:ea typeface="Calibri" pitchFamily="34" charset="-122"/>
                <a:cs typeface="Calibri" pitchFamily="34" charset="-120"/>
              </a:rPr>
              <a:t>POINTS · 19 QUESTIONS</a:t>
            </a:r>
            <a:endParaRPr lang="en-US" sz="1100" dirty="0"/>
          </a:p>
        </p:txBody>
      </p:sp>
      <p:sp>
        <p:nvSpPr>
          <p:cNvPr id="7" name="Text 5"/>
          <p:cNvSpPr txBox="1"/>
          <p:nvPr/>
        </p:nvSpPr>
        <p:spPr>
          <a:xfrm>
            <a:off x="1143000" y="3639312"/>
            <a:ext cx="2468880" cy="1005840"/>
          </a:xfrm>
          <a:prstGeom prst="rect">
            <a:avLst/>
          </a:prstGeom>
          <a:noFill/>
          <a:ln/>
        </p:spPr>
        <p:txBody>
          <a:bodyPr wrap="square" lIns="0" tIns="0" rIns="0" bIns="0" rtlCol="0" anchor="ctr"/>
          <a:lstStyle/>
          <a:p>
            <a:pPr indent="0" marL="0">
              <a:lnSpc>
                <a:spcPts val="1600"/>
              </a:lnSpc>
              <a:buNone/>
            </a:pPr>
            <a:r>
              <a:rPr lang="en-US" sz="1150" dirty="0">
                <a:solidFill>
                  <a:srgbClr val="DCE8CF"/>
                </a:solidFill>
                <a:latin typeface="Calibri" pitchFamily="34" charset="0"/>
                <a:ea typeface="Calibri" pitchFamily="34" charset="-122"/>
                <a:cs typeface="Calibri" pitchFamily="34" charset="-120"/>
              </a:rPr>
              <a:t>Answers save as they are given and feed the dashboard immediately. The weakest dimension is named as the priority gap — so the output is a next action, not a grade.</a:t>
            </a:r>
            <a:endParaRPr lang="en-US" sz="1150" dirty="0"/>
          </a:p>
        </p:txBody>
      </p:sp>
      <p:graphicFrame>
        <p:nvGraphicFramePr>
          <p:cNvPr id="8" name="Chart 0" descr=""/>
          <p:cNvGraphicFramePr/>
          <p:nvPr/>
        </p:nvGraphicFramePr>
        <p:xfrm>
          <a:off x="4343400" y="1874520"/>
          <a:ext cx="7040880" cy="3017520"/>
        </p:xfrm>
        <a:graphic xmlns:a="http://schemas.openxmlformats.org/drawingml/2006/main">
          <a:graphicData uri="http://schemas.openxmlformats.org/drawingml/2006/chart">
            <c:chart xmlns:c="http://schemas.openxmlformats.org/drawingml/2006/chart" r:id="rId2"/>
          </a:graphicData>
        </a:graphic>
      </p:graphicFrame>
      <p:sp>
        <p:nvSpPr>
          <p:cNvPr id="9" name="Text 6"/>
          <p:cNvSpPr txBox="1"/>
          <p:nvPr/>
        </p:nvSpPr>
        <p:spPr>
          <a:xfrm>
            <a:off x="777240" y="5166360"/>
            <a:ext cx="3291840" cy="256032"/>
          </a:xfrm>
          <a:prstGeom prst="rect">
            <a:avLst/>
          </a:prstGeom>
          <a:noFill/>
          <a:ln/>
        </p:spPr>
        <p:txBody>
          <a:bodyPr wrap="square" lIns="0" tIns="0" rIns="0" bIns="0" rtlCol="0" anchor="ctr"/>
          <a:lstStyle/>
          <a:p>
            <a:pPr indent="0" marL="0">
              <a:lnSpc>
                <a:spcPts val="2100"/>
              </a:lnSpc>
              <a:buNone/>
            </a:pPr>
            <a:r>
              <a:rPr lang="en-US" sz="1300" b="1" dirty="0">
                <a:solidFill>
                  <a:srgbClr val="1B4332"/>
                </a:solidFill>
                <a:latin typeface="Calibri" pitchFamily="34" charset="0"/>
                <a:ea typeface="Calibri" pitchFamily="34" charset="-122"/>
                <a:cs typeface="Calibri" pitchFamily="34" charset="-120"/>
              </a:rPr>
              <a:t>Data readiness</a:t>
            </a:r>
            <a:endParaRPr lang="en-US" sz="1300" dirty="0"/>
          </a:p>
        </p:txBody>
      </p:sp>
      <p:sp>
        <p:nvSpPr>
          <p:cNvPr id="10" name="Text 7"/>
          <p:cNvSpPr txBox="1"/>
          <p:nvPr/>
        </p:nvSpPr>
        <p:spPr>
          <a:xfrm>
            <a:off x="777240" y="5440680"/>
            <a:ext cx="3291840" cy="7315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Availability, granularity and history of farm data — the largest weight, because nothing downstream works without it.</a:t>
            </a:r>
            <a:endParaRPr lang="en-US" sz="1150" dirty="0"/>
          </a:p>
        </p:txBody>
      </p:sp>
      <p:sp>
        <p:nvSpPr>
          <p:cNvPr id="11" name="Text 8"/>
          <p:cNvSpPr txBox="1"/>
          <p:nvPr/>
        </p:nvSpPr>
        <p:spPr>
          <a:xfrm>
            <a:off x="4389120" y="5166360"/>
            <a:ext cx="3291840" cy="256032"/>
          </a:xfrm>
          <a:prstGeom prst="rect">
            <a:avLst/>
          </a:prstGeom>
          <a:noFill/>
          <a:ln/>
        </p:spPr>
        <p:txBody>
          <a:bodyPr wrap="square" lIns="0" tIns="0" rIns="0" bIns="0" rtlCol="0" anchor="ctr"/>
          <a:lstStyle/>
          <a:p>
            <a:pPr indent="0" marL="0">
              <a:lnSpc>
                <a:spcPts val="2100"/>
              </a:lnSpc>
              <a:buNone/>
            </a:pPr>
            <a:r>
              <a:rPr lang="en-US" sz="1300" b="1" dirty="0">
                <a:solidFill>
                  <a:srgbClr val="1B4332"/>
                </a:solidFill>
                <a:latin typeface="Calibri" pitchFamily="34" charset="0"/>
                <a:ea typeface="Calibri" pitchFamily="34" charset="-122"/>
                <a:cs typeface="Calibri" pitchFamily="34" charset="-120"/>
              </a:rPr>
              <a:t>Infrastructure</a:t>
            </a:r>
            <a:endParaRPr lang="en-US" sz="1300" dirty="0"/>
          </a:p>
        </p:txBody>
      </p:sp>
      <p:sp>
        <p:nvSpPr>
          <p:cNvPr id="12" name="Text 9"/>
          <p:cNvSpPr txBox="1"/>
          <p:nvPr/>
        </p:nvSpPr>
        <p:spPr>
          <a:xfrm>
            <a:off x="4389120" y="5440680"/>
            <a:ext cx="3291840" cy="7315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Connectivity, sensors, compute access and power in the field.</a:t>
            </a:r>
            <a:endParaRPr lang="en-US" sz="1150" dirty="0"/>
          </a:p>
        </p:txBody>
      </p:sp>
      <p:sp>
        <p:nvSpPr>
          <p:cNvPr id="13" name="Text 10"/>
          <p:cNvSpPr txBox="1"/>
          <p:nvPr/>
        </p:nvSpPr>
        <p:spPr>
          <a:xfrm>
            <a:off x="8001000" y="5166360"/>
            <a:ext cx="3291840" cy="256032"/>
          </a:xfrm>
          <a:prstGeom prst="rect">
            <a:avLst/>
          </a:prstGeom>
          <a:noFill/>
          <a:ln/>
        </p:spPr>
        <p:txBody>
          <a:bodyPr wrap="square" lIns="0" tIns="0" rIns="0" bIns="0" rtlCol="0" anchor="ctr"/>
          <a:lstStyle/>
          <a:p>
            <a:pPr indent="0" marL="0">
              <a:lnSpc>
                <a:spcPts val="2100"/>
              </a:lnSpc>
              <a:buNone/>
            </a:pPr>
            <a:r>
              <a:rPr lang="en-US" sz="1300" b="1" dirty="0">
                <a:solidFill>
                  <a:srgbClr val="1B4332"/>
                </a:solidFill>
                <a:latin typeface="Calibri" pitchFamily="34" charset="0"/>
                <a:ea typeface="Calibri" pitchFamily="34" charset="-122"/>
                <a:cs typeface="Calibri" pitchFamily="34" charset="-120"/>
              </a:rPr>
              <a:t>Governance</a:t>
            </a:r>
            <a:endParaRPr lang="en-US" sz="1300" dirty="0"/>
          </a:p>
        </p:txBody>
      </p:sp>
      <p:sp>
        <p:nvSpPr>
          <p:cNvPr id="14" name="Text 11"/>
          <p:cNvSpPr txBox="1"/>
          <p:nvPr/>
        </p:nvSpPr>
        <p:spPr>
          <a:xfrm>
            <a:off x="8001000" y="5440680"/>
            <a:ext cx="3291840" cy="7315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Data handling, consent, and awareness of the PDPL and SDAIA guidance.</a:t>
            </a:r>
            <a:endParaRPr lang="en-US" sz="1150" dirty="0"/>
          </a:p>
        </p:txBody>
      </p:sp>
      <p:sp>
        <p:nvSpPr>
          <p:cNvPr id="15" name="Text 12"/>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16" name="Text 13"/>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LAYER TWO</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A season you can lose safely</a:t>
            </a:r>
            <a:endParaRPr lang="en-US" sz="3800" dirty="0"/>
          </a:p>
        </p:txBody>
      </p:sp>
      <p:sp>
        <p:nvSpPr>
          <p:cNvPr id="4" name="Text 2"/>
          <p:cNvSpPr txBox="1"/>
          <p:nvPr/>
        </p:nvSpPr>
        <p:spPr>
          <a:xfrm>
            <a:off x="777240" y="1810512"/>
            <a:ext cx="6766560" cy="822960"/>
          </a:xfrm>
          <a:prstGeom prst="rect">
            <a:avLst/>
          </a:prstGeom>
          <a:noFill/>
          <a:ln/>
        </p:spPr>
        <p:txBody>
          <a:bodyPr wrap="square" lIns="0" tIns="0" rIns="0" bIns="0" rtlCol="0" anchor="ctr"/>
          <a:lstStyle/>
          <a:p>
            <a:pPr indent="0" marL="0">
              <a:lnSpc>
                <a:spcPts val="2100"/>
              </a:lnSpc>
              <a:buNone/>
            </a:pPr>
            <a:r>
              <a:rPr lang="en-US" sz="1400" dirty="0">
                <a:solidFill>
                  <a:srgbClr val="5A5248"/>
                </a:solidFill>
                <a:latin typeface="Calibri" pitchFamily="34" charset="0"/>
                <a:ea typeface="Calibri" pitchFamily="34" charset="-122"/>
                <a:cs typeface="Calibri" pitchFamily="34" charset="-120"/>
              </a:rPr>
              <a:t>Choose the sub-region, the soil, the season and the character of the year. Plant. Then take one decision a week — irrigate, fertilise, treat, inspect, or hold — and watch health, growth, moisture, nutrients, pest pressure and salinity move.</a:t>
            </a:r>
            <a:endParaRPr lang="en-US" sz="1400" dirty="0"/>
          </a:p>
        </p:txBody>
      </p:sp>
      <p:pic>
        <p:nvPicPr>
          <p:cNvPr id="5" name="Image 0" descr="/home/claude/deck/assets/mango-seed.png">    </p:cNvPr>
          <p:cNvPicPr>
            <a:picLocks noChangeAspect="1"/>
          </p:cNvPicPr>
          <p:nvPr/>
        </p:nvPicPr>
        <p:blipFill>
          <a:blip r:embed="rId2"/>
          <a:stretch>
            <a:fillRect/>
          </a:stretch>
        </p:blipFill>
        <p:spPr>
          <a:xfrm>
            <a:off x="8366760" y="2057400"/>
            <a:ext cx="960120" cy="850392"/>
          </a:xfrm>
          <a:prstGeom prst="rect">
            <a:avLst/>
          </a:prstGeom>
        </p:spPr>
      </p:pic>
      <p:pic>
        <p:nvPicPr>
          <p:cNvPr id="6" name="Image 1" descr="/home/claude/deck/assets/mango-healthy.png">    </p:cNvPr>
          <p:cNvPicPr>
            <a:picLocks noChangeAspect="1"/>
          </p:cNvPicPr>
          <p:nvPr/>
        </p:nvPicPr>
        <p:blipFill>
          <a:blip r:embed="rId3"/>
          <a:stretch>
            <a:fillRect/>
          </a:stretch>
        </p:blipFill>
        <p:spPr>
          <a:xfrm>
            <a:off x="9509760" y="1572768"/>
            <a:ext cx="1280160" cy="1435608"/>
          </a:xfrm>
          <a:prstGeom prst="rect">
            <a:avLst/>
          </a:prstGeom>
        </p:spPr>
      </p:pic>
      <p:pic>
        <p:nvPicPr>
          <p:cNvPr id="7" name="Image 2" descr="/home/claude/deck/assets/mango-dead.png">    </p:cNvPr>
          <p:cNvPicPr>
            <a:picLocks noChangeAspect="1"/>
          </p:cNvPicPr>
          <p:nvPr/>
        </p:nvPicPr>
        <p:blipFill>
          <a:blip r:embed="rId4"/>
          <a:stretch>
            <a:fillRect/>
          </a:stretch>
        </p:blipFill>
        <p:spPr>
          <a:xfrm>
            <a:off x="10927080" y="1965960"/>
            <a:ext cx="914400" cy="1033272"/>
          </a:xfrm>
          <a:prstGeom prst="rect">
            <a:avLst/>
          </a:prstGeom>
        </p:spPr>
      </p:pic>
      <p:sp>
        <p:nvSpPr>
          <p:cNvPr id="8" name="Text 3"/>
          <p:cNvSpPr txBox="1"/>
          <p:nvPr/>
        </p:nvSpPr>
        <p:spPr>
          <a:xfrm>
            <a:off x="8275320" y="3154680"/>
            <a:ext cx="3566160" cy="274320"/>
          </a:xfrm>
          <a:prstGeom prst="rect">
            <a:avLst/>
          </a:prstGeom>
          <a:noFill/>
          <a:ln/>
        </p:spPr>
        <p:txBody>
          <a:bodyPr wrap="square" lIns="0" tIns="0" rIns="0" bIns="0" rtlCol="0" anchor="ctr"/>
          <a:lstStyle/>
          <a:p>
            <a:pPr indent="0" marL="0">
              <a:lnSpc>
                <a:spcPts val="2100"/>
              </a:lnSpc>
              <a:buNone/>
            </a:pPr>
            <a:r>
              <a:rPr lang="en-US" sz="1050" i="1" dirty="0">
                <a:solidFill>
                  <a:srgbClr val="8B8073"/>
                </a:solidFill>
                <a:latin typeface="Calibri" pitchFamily="34" charset="0"/>
                <a:ea typeface="Calibri" pitchFamily="34" charset="-122"/>
                <a:cs typeface="Calibri" pitchFamily="34" charset="-120"/>
              </a:rPr>
              <a:t>Seed → harvest → failure. Every state is drawn.</a:t>
            </a:r>
            <a:endParaRPr lang="en-US" sz="1050" dirty="0"/>
          </a:p>
        </p:txBody>
      </p:sp>
      <p:sp>
        <p:nvSpPr>
          <p:cNvPr id="9" name="Shape 4"/>
          <p:cNvSpPr/>
          <p:nvPr/>
        </p:nvSpPr>
        <p:spPr>
          <a:xfrm>
            <a:off x="777240" y="3429000"/>
            <a:ext cx="5074920" cy="1115568"/>
          </a:xfrm>
          <a:prstGeom prst="roundRect">
            <a:avLst>
              <a:gd name="adj" fmla="val 11475"/>
            </a:avLst>
          </a:prstGeom>
          <a:solidFill>
            <a:srgbClr val="FFFFFF"/>
          </a:solidFill>
          <a:ln/>
          <a:effectLst>
            <a:outerShdw sx="100000" sy="100000" kx="0" ky="0" algn="bl" rotWithShape="0" blurRad="152400" dist="38100" dir="5400000">
              <a:srgbClr val="3A2A1C">
                <a:alpha val="10000"/>
              </a:srgbClr>
            </a:outerShdw>
          </a:effectLst>
        </p:spPr>
      </p:sp>
      <p:sp>
        <p:nvSpPr>
          <p:cNvPr id="10" name="Shape 5"/>
          <p:cNvSpPr/>
          <p:nvPr/>
        </p:nvSpPr>
        <p:spPr>
          <a:xfrm>
            <a:off x="1051560" y="3721608"/>
            <a:ext cx="530352" cy="530352"/>
          </a:xfrm>
          <a:prstGeom prst="ellipse">
            <a:avLst/>
          </a:prstGeom>
          <a:solidFill>
            <a:srgbClr val="DCE8CF"/>
          </a:solidFill>
          <a:ln/>
        </p:spPr>
      </p:sp>
      <p:sp>
        <p:nvSpPr>
          <p:cNvPr id="11" name="Text 6"/>
          <p:cNvSpPr txBox="1"/>
          <p:nvPr/>
        </p:nvSpPr>
        <p:spPr>
          <a:xfrm>
            <a:off x="1051560" y="3721608"/>
            <a:ext cx="530352" cy="530352"/>
          </a:xfrm>
          <a:prstGeom prst="rect">
            <a:avLst/>
          </a:prstGeom>
          <a:noFill/>
          <a:ln/>
        </p:spPr>
        <p:txBody>
          <a:bodyPr wrap="square" lIns="0" tIns="0" rIns="0" bIns="0" rtlCol="0" anchor="ctr"/>
          <a:lstStyle/>
          <a:p>
            <a:pPr algn="ctr" indent="0" marL="0">
              <a:buNone/>
            </a:pPr>
            <a:r>
              <a:rPr lang="en-US" sz="1700" b="1" dirty="0">
                <a:solidFill>
                  <a:srgbClr val="1B4332"/>
                </a:solidFill>
                <a:latin typeface="Calibri" pitchFamily="34" charset="0"/>
                <a:ea typeface="Calibri" pitchFamily="34" charset="-122"/>
                <a:cs typeface="Calibri" pitchFamily="34" charset="-120"/>
              </a:rPr>
              <a:t>◷</a:t>
            </a:r>
            <a:endParaRPr lang="en-US" sz="1700" dirty="0"/>
          </a:p>
        </p:txBody>
      </p:sp>
      <p:sp>
        <p:nvSpPr>
          <p:cNvPr id="12" name="Text 7"/>
          <p:cNvSpPr txBox="1"/>
          <p:nvPr/>
        </p:nvSpPr>
        <p:spPr>
          <a:xfrm>
            <a:off x="1737360" y="3611880"/>
            <a:ext cx="3931920" cy="292608"/>
          </a:xfrm>
          <a:prstGeom prst="rect">
            <a:avLst/>
          </a:prstGeom>
          <a:noFill/>
          <a:ln/>
        </p:spPr>
        <p:txBody>
          <a:bodyPr wrap="square" lIns="0" tIns="0" rIns="0" bIns="0"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One decision per week</a:t>
            </a:r>
            <a:endParaRPr lang="en-US" sz="1500" dirty="0"/>
          </a:p>
        </p:txBody>
      </p:sp>
      <p:sp>
        <p:nvSpPr>
          <p:cNvPr id="13" name="Text 8"/>
          <p:cNvSpPr txBox="1"/>
          <p:nvPr/>
        </p:nvSpPr>
        <p:spPr>
          <a:xfrm>
            <a:off x="1737360" y="3941064"/>
            <a:ext cx="3931920" cy="5029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The real constraint on a smallholding, made explicit in the interface.</a:t>
            </a:r>
            <a:endParaRPr lang="en-US" sz="1150" dirty="0"/>
          </a:p>
        </p:txBody>
      </p:sp>
      <p:sp>
        <p:nvSpPr>
          <p:cNvPr id="14" name="Shape 9"/>
          <p:cNvSpPr/>
          <p:nvPr/>
        </p:nvSpPr>
        <p:spPr>
          <a:xfrm>
            <a:off x="6263640" y="3429000"/>
            <a:ext cx="5074920" cy="1115568"/>
          </a:xfrm>
          <a:prstGeom prst="roundRect">
            <a:avLst>
              <a:gd name="adj" fmla="val 11475"/>
            </a:avLst>
          </a:prstGeom>
          <a:solidFill>
            <a:srgbClr val="FFFFFF"/>
          </a:solidFill>
          <a:ln/>
          <a:effectLst>
            <a:outerShdw sx="100000" sy="100000" kx="0" ky="0" algn="bl" rotWithShape="0" blurRad="152400" dist="38100" dir="5400000">
              <a:srgbClr val="3A2A1C">
                <a:alpha val="10000"/>
              </a:srgbClr>
            </a:outerShdw>
          </a:effectLst>
        </p:spPr>
      </p:sp>
      <p:sp>
        <p:nvSpPr>
          <p:cNvPr id="15" name="Shape 10"/>
          <p:cNvSpPr/>
          <p:nvPr/>
        </p:nvSpPr>
        <p:spPr>
          <a:xfrm>
            <a:off x="6537960" y="3721608"/>
            <a:ext cx="530352" cy="530352"/>
          </a:xfrm>
          <a:prstGeom prst="ellipse">
            <a:avLst/>
          </a:prstGeom>
          <a:solidFill>
            <a:srgbClr val="DCE8CF"/>
          </a:solidFill>
          <a:ln/>
        </p:spPr>
      </p:sp>
      <p:sp>
        <p:nvSpPr>
          <p:cNvPr id="16" name="Text 11"/>
          <p:cNvSpPr txBox="1"/>
          <p:nvPr/>
        </p:nvSpPr>
        <p:spPr>
          <a:xfrm>
            <a:off x="6537960" y="3721608"/>
            <a:ext cx="530352" cy="530352"/>
          </a:xfrm>
          <a:prstGeom prst="rect">
            <a:avLst/>
          </a:prstGeom>
          <a:noFill/>
          <a:ln/>
        </p:spPr>
        <p:txBody>
          <a:bodyPr wrap="square" lIns="0" tIns="0" rIns="0" bIns="0" rtlCol="0" anchor="ctr"/>
          <a:lstStyle/>
          <a:p>
            <a:pPr algn="ctr" indent="0" marL="0">
              <a:buNone/>
            </a:pPr>
            <a:r>
              <a:rPr lang="en-US" sz="1700" b="1" dirty="0">
                <a:solidFill>
                  <a:srgbClr val="1B4332"/>
                </a:solidFill>
                <a:latin typeface="Calibri" pitchFamily="34" charset="0"/>
                <a:ea typeface="Calibri" pitchFamily="34" charset="-122"/>
                <a:cs typeface="Calibri" pitchFamily="34" charset="-120"/>
              </a:rPr>
              <a:t>◈</a:t>
            </a:r>
            <a:endParaRPr lang="en-US" sz="1700" dirty="0"/>
          </a:p>
        </p:txBody>
      </p:sp>
      <p:sp>
        <p:nvSpPr>
          <p:cNvPr id="17" name="Text 12"/>
          <p:cNvSpPr txBox="1"/>
          <p:nvPr/>
        </p:nvSpPr>
        <p:spPr>
          <a:xfrm>
            <a:off x="7223760" y="3611880"/>
            <a:ext cx="3931920" cy="292608"/>
          </a:xfrm>
          <a:prstGeom prst="rect">
            <a:avLst/>
          </a:prstGeom>
          <a:noFill/>
          <a:ln/>
        </p:spPr>
        <p:txBody>
          <a:bodyPr wrap="square" lIns="0" tIns="0" rIns="0" bIns="0"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Six live vitals</a:t>
            </a:r>
            <a:endParaRPr lang="en-US" sz="1500" dirty="0"/>
          </a:p>
        </p:txBody>
      </p:sp>
      <p:sp>
        <p:nvSpPr>
          <p:cNvPr id="18" name="Text 13"/>
          <p:cNvSpPr txBox="1"/>
          <p:nvPr/>
        </p:nvSpPr>
        <p:spPr>
          <a:xfrm>
            <a:off x="7223760" y="3941064"/>
            <a:ext cx="3931920" cy="5029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Health, growth, moisture, nutrients, pest pressure and soil salinity, all coupled.</a:t>
            </a:r>
            <a:endParaRPr lang="en-US" sz="1150" dirty="0"/>
          </a:p>
        </p:txBody>
      </p:sp>
      <p:sp>
        <p:nvSpPr>
          <p:cNvPr id="19" name="Shape 14"/>
          <p:cNvSpPr/>
          <p:nvPr/>
        </p:nvSpPr>
        <p:spPr>
          <a:xfrm>
            <a:off x="777240" y="4727448"/>
            <a:ext cx="5074920" cy="1115568"/>
          </a:xfrm>
          <a:prstGeom prst="roundRect">
            <a:avLst>
              <a:gd name="adj" fmla="val 11475"/>
            </a:avLst>
          </a:prstGeom>
          <a:solidFill>
            <a:srgbClr val="FFFFFF"/>
          </a:solidFill>
          <a:ln/>
          <a:effectLst>
            <a:outerShdw sx="100000" sy="100000" kx="0" ky="0" algn="bl" rotWithShape="0" blurRad="152400" dist="38100" dir="5400000">
              <a:srgbClr val="3A2A1C">
                <a:alpha val="10000"/>
              </a:srgbClr>
            </a:outerShdw>
          </a:effectLst>
        </p:spPr>
      </p:sp>
      <p:sp>
        <p:nvSpPr>
          <p:cNvPr id="20" name="Shape 15"/>
          <p:cNvSpPr/>
          <p:nvPr/>
        </p:nvSpPr>
        <p:spPr>
          <a:xfrm>
            <a:off x="1051560" y="5020056"/>
            <a:ext cx="530352" cy="530352"/>
          </a:xfrm>
          <a:prstGeom prst="ellipse">
            <a:avLst/>
          </a:prstGeom>
          <a:solidFill>
            <a:srgbClr val="DCE8CF"/>
          </a:solidFill>
          <a:ln/>
        </p:spPr>
      </p:sp>
      <p:sp>
        <p:nvSpPr>
          <p:cNvPr id="21" name="Text 16"/>
          <p:cNvSpPr txBox="1"/>
          <p:nvPr/>
        </p:nvSpPr>
        <p:spPr>
          <a:xfrm>
            <a:off x="1051560" y="5020056"/>
            <a:ext cx="530352" cy="530352"/>
          </a:xfrm>
          <a:prstGeom prst="rect">
            <a:avLst/>
          </a:prstGeom>
          <a:noFill/>
          <a:ln/>
        </p:spPr>
        <p:txBody>
          <a:bodyPr wrap="square" lIns="0" tIns="0" rIns="0" bIns="0" rtlCol="0" anchor="ctr"/>
          <a:lstStyle/>
          <a:p>
            <a:pPr algn="ctr" indent="0" marL="0">
              <a:buNone/>
            </a:pPr>
            <a:r>
              <a:rPr lang="en-US" sz="1700" b="1" dirty="0">
                <a:solidFill>
                  <a:srgbClr val="1B4332"/>
                </a:solidFill>
                <a:latin typeface="Calibri" pitchFamily="34" charset="0"/>
                <a:ea typeface="Calibri" pitchFamily="34" charset="-122"/>
                <a:cs typeface="Calibri" pitchFamily="34" charset="-120"/>
              </a:rPr>
              <a:t>⊘</a:t>
            </a:r>
            <a:endParaRPr lang="en-US" sz="1700" dirty="0"/>
          </a:p>
        </p:txBody>
      </p:sp>
      <p:sp>
        <p:nvSpPr>
          <p:cNvPr id="22" name="Text 17"/>
          <p:cNvSpPr txBox="1"/>
          <p:nvPr/>
        </p:nvSpPr>
        <p:spPr>
          <a:xfrm>
            <a:off x="1737360" y="4910328"/>
            <a:ext cx="3931920" cy="292608"/>
          </a:xfrm>
          <a:prstGeom prst="rect">
            <a:avLst/>
          </a:prstGeom>
          <a:noFill/>
          <a:ln/>
        </p:spPr>
        <p:txBody>
          <a:bodyPr wrap="square" lIns="0" tIns="0" rIns="0" bIns="0"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A Policy node that refuses</a:t>
            </a:r>
            <a:endParaRPr lang="en-US" sz="1500" dirty="0"/>
          </a:p>
        </p:txBody>
      </p:sp>
      <p:sp>
        <p:nvSpPr>
          <p:cNvPr id="23" name="Text 18"/>
          <p:cNvSpPr txBox="1"/>
          <p:nvPr/>
        </p:nvSpPr>
        <p:spPr>
          <a:xfrm>
            <a:off x="1737360" y="5239512"/>
            <a:ext cx="3931920" cy="5029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A fourth fertiliser dose, irrigation into saturated soil — blocked, in red, with the reason.</a:t>
            </a:r>
            <a:endParaRPr lang="en-US" sz="1150" dirty="0"/>
          </a:p>
        </p:txBody>
      </p:sp>
      <p:sp>
        <p:nvSpPr>
          <p:cNvPr id="24" name="Shape 19"/>
          <p:cNvSpPr/>
          <p:nvPr/>
        </p:nvSpPr>
        <p:spPr>
          <a:xfrm>
            <a:off x="6263640" y="4727448"/>
            <a:ext cx="5074920" cy="1115568"/>
          </a:xfrm>
          <a:prstGeom prst="roundRect">
            <a:avLst>
              <a:gd name="adj" fmla="val 11475"/>
            </a:avLst>
          </a:prstGeom>
          <a:solidFill>
            <a:srgbClr val="FFFFFF"/>
          </a:solidFill>
          <a:ln/>
          <a:effectLst>
            <a:outerShdw sx="100000" sy="100000" kx="0" ky="0" algn="bl" rotWithShape="0" blurRad="152400" dist="38100" dir="5400000">
              <a:srgbClr val="3A2A1C">
                <a:alpha val="10000"/>
              </a:srgbClr>
            </a:outerShdw>
          </a:effectLst>
        </p:spPr>
      </p:sp>
      <p:sp>
        <p:nvSpPr>
          <p:cNvPr id="25" name="Shape 20"/>
          <p:cNvSpPr/>
          <p:nvPr/>
        </p:nvSpPr>
        <p:spPr>
          <a:xfrm>
            <a:off x="6537960" y="5020056"/>
            <a:ext cx="530352" cy="530352"/>
          </a:xfrm>
          <a:prstGeom prst="ellipse">
            <a:avLst/>
          </a:prstGeom>
          <a:solidFill>
            <a:srgbClr val="DCE8CF"/>
          </a:solidFill>
          <a:ln/>
        </p:spPr>
      </p:sp>
      <p:sp>
        <p:nvSpPr>
          <p:cNvPr id="26" name="Text 21"/>
          <p:cNvSpPr txBox="1"/>
          <p:nvPr/>
        </p:nvSpPr>
        <p:spPr>
          <a:xfrm>
            <a:off x="6537960" y="5020056"/>
            <a:ext cx="530352" cy="530352"/>
          </a:xfrm>
          <a:prstGeom prst="rect">
            <a:avLst/>
          </a:prstGeom>
          <a:noFill/>
          <a:ln/>
        </p:spPr>
        <p:txBody>
          <a:bodyPr wrap="square" lIns="0" tIns="0" rIns="0" bIns="0" rtlCol="0" anchor="ctr"/>
          <a:lstStyle/>
          <a:p>
            <a:pPr algn="ctr" indent="0" marL="0">
              <a:buNone/>
            </a:pPr>
            <a:r>
              <a:rPr lang="en-US" sz="1700" b="1" dirty="0">
                <a:solidFill>
                  <a:srgbClr val="1B4332"/>
                </a:solidFill>
                <a:latin typeface="Calibri" pitchFamily="34" charset="0"/>
                <a:ea typeface="Calibri" pitchFamily="34" charset="-122"/>
                <a:cs typeface="Calibri" pitchFamily="34" charset="-120"/>
              </a:rPr>
              <a:t>◎</a:t>
            </a:r>
            <a:endParaRPr lang="en-US" sz="1700" dirty="0"/>
          </a:p>
        </p:txBody>
      </p:sp>
      <p:sp>
        <p:nvSpPr>
          <p:cNvPr id="27" name="Text 22"/>
          <p:cNvSpPr txBox="1"/>
          <p:nvPr/>
        </p:nvSpPr>
        <p:spPr>
          <a:xfrm>
            <a:off x="7223760" y="4910328"/>
            <a:ext cx="3931920" cy="292608"/>
          </a:xfrm>
          <a:prstGeom prst="rect">
            <a:avLst/>
          </a:prstGeom>
          <a:noFill/>
          <a:ln/>
        </p:spPr>
        <p:txBody>
          <a:bodyPr wrap="square" lIns="0" tIns="0" rIns="0" bIns="0" rtlCol="0" anchor="ctr"/>
          <a:lstStyle/>
          <a:p>
            <a:pPr indent="0" marL="0">
              <a:buNone/>
            </a:pPr>
            <a:r>
              <a:rPr lang="en-US" sz="1500" b="1" dirty="0">
                <a:solidFill>
                  <a:srgbClr val="1B4332"/>
                </a:solidFill>
                <a:latin typeface="Cambria" pitchFamily="34" charset="0"/>
                <a:ea typeface="Cambria" pitchFamily="34" charset="-122"/>
                <a:cs typeface="Cambria" pitchFamily="34" charset="-120"/>
              </a:rPr>
              <a:t>900 climate combinations</a:t>
            </a:r>
            <a:endParaRPr lang="en-US" sz="1500" dirty="0"/>
          </a:p>
        </p:txBody>
      </p:sp>
      <p:sp>
        <p:nvSpPr>
          <p:cNvPr id="28" name="Text 23"/>
          <p:cNvSpPr txBox="1"/>
          <p:nvPr/>
        </p:nvSpPr>
        <p:spPr>
          <a:xfrm>
            <a:off x="7223760" y="5239512"/>
            <a:ext cx="3931920" cy="50292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Five sub-regions × eleven soils × four seasons × four weather patterns.</a:t>
            </a:r>
            <a:endParaRPr lang="en-US" sz="1150" dirty="0"/>
          </a:p>
        </p:txBody>
      </p:sp>
      <p:sp>
        <p:nvSpPr>
          <p:cNvPr id="29" name="Text 24"/>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30" name="Text 25"/>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ITU-T Y.3172, implemented rather than cited</a:t>
            </a:r>
            <a:endParaRPr lang="en-US" sz="3800" dirty="0"/>
          </a:p>
        </p:txBody>
      </p:sp>
      <p:sp>
        <p:nvSpPr>
          <p:cNvPr id="4" name="Text 2"/>
          <p:cNvSpPr txBox="1"/>
          <p:nvPr/>
        </p:nvSpPr>
        <p:spPr>
          <a:xfrm>
            <a:off x="777240" y="1783080"/>
            <a:ext cx="10424160" cy="640080"/>
          </a:xfrm>
          <a:prstGeom prst="rect">
            <a:avLst/>
          </a:prstGeom>
          <a:noFill/>
          <a:ln/>
        </p:spPr>
        <p:txBody>
          <a:bodyPr wrap="square" lIns="0" tIns="0" rIns="0" bIns="0" rtlCol="0" anchor="ctr"/>
          <a:lstStyle/>
          <a:p>
            <a:pPr indent="0" marL="0">
              <a:lnSpc>
                <a:spcPts val="2100"/>
              </a:lnSpc>
              <a:buNone/>
            </a:pPr>
            <a:r>
              <a:rPr lang="en-US" sz="1400" dirty="0">
                <a:solidFill>
                  <a:srgbClr val="5A5248"/>
                </a:solidFill>
                <a:latin typeface="Calibri" pitchFamily="34" charset="0"/>
                <a:ea typeface="Calibri" pitchFamily="34" charset="-122"/>
                <a:cs typeface="Calibri" pitchFamily="34" charset="-120"/>
              </a:rPr>
              <a:t>Every sandbox decision traverses the clause 8.1 pipeline, orchestrated by the MLFO inside the ML Sandbox. The nodes light in sequence on screen as the decision is processed — the standard becomes behaviour rather than a table in a document.</a:t>
            </a:r>
            <a:endParaRPr lang="en-US" sz="1400" dirty="0"/>
          </a:p>
        </p:txBody>
      </p:sp>
      <p:sp>
        <p:nvSpPr>
          <p:cNvPr id="5" name="Shape 3"/>
          <p:cNvSpPr/>
          <p:nvPr/>
        </p:nvSpPr>
        <p:spPr>
          <a:xfrm>
            <a:off x="777240" y="2697480"/>
            <a:ext cx="1298448" cy="914400"/>
          </a:xfrm>
          <a:prstGeom prst="roundRect">
            <a:avLst>
              <a:gd name="adj" fmla="val 10000"/>
            </a:avLst>
          </a:prstGeom>
          <a:solidFill>
            <a:srgbClr val="1B4332"/>
          </a:solidFill>
          <a:ln/>
        </p:spPr>
      </p:sp>
      <p:sp>
        <p:nvSpPr>
          <p:cNvPr id="6" name="Text 4"/>
          <p:cNvSpPr txBox="1"/>
          <p:nvPr/>
        </p:nvSpPr>
        <p:spPr>
          <a:xfrm>
            <a:off x="777240"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SRC</a:t>
            </a:r>
            <a:endParaRPr lang="en-US" sz="1800" dirty="0"/>
          </a:p>
        </p:txBody>
      </p:sp>
      <p:sp>
        <p:nvSpPr>
          <p:cNvPr id="7" name="Text 5"/>
          <p:cNvSpPr txBox="1"/>
          <p:nvPr/>
        </p:nvSpPr>
        <p:spPr>
          <a:xfrm>
            <a:off x="777240"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Data source</a:t>
            </a:r>
            <a:endParaRPr lang="en-US" sz="950" dirty="0"/>
          </a:p>
        </p:txBody>
      </p:sp>
      <p:sp>
        <p:nvSpPr>
          <p:cNvPr id="8" name="Shape 6"/>
          <p:cNvSpPr/>
          <p:nvPr/>
        </p:nvSpPr>
        <p:spPr>
          <a:xfrm>
            <a:off x="2093976" y="3154680"/>
            <a:ext cx="201168" cy="0"/>
          </a:xfrm>
          <a:prstGeom prst="line">
            <a:avLst/>
          </a:prstGeom>
          <a:noFill/>
          <a:ln w="25400">
            <a:solidFill>
              <a:srgbClr val="A8BF92"/>
            </a:solidFill>
            <a:prstDash val="solid"/>
            <a:tailEnd type="triangle"/>
          </a:ln>
        </p:spPr>
      </p:sp>
      <p:sp>
        <p:nvSpPr>
          <p:cNvPr id="9" name="Shape 7"/>
          <p:cNvSpPr/>
          <p:nvPr/>
        </p:nvSpPr>
        <p:spPr>
          <a:xfrm>
            <a:off x="2313432" y="2697480"/>
            <a:ext cx="1298448" cy="914400"/>
          </a:xfrm>
          <a:prstGeom prst="roundRect">
            <a:avLst>
              <a:gd name="adj" fmla="val 10000"/>
            </a:avLst>
          </a:prstGeom>
          <a:solidFill>
            <a:srgbClr val="1B4332"/>
          </a:solidFill>
          <a:ln/>
        </p:spPr>
      </p:sp>
      <p:sp>
        <p:nvSpPr>
          <p:cNvPr id="10" name="Text 8"/>
          <p:cNvSpPr txBox="1"/>
          <p:nvPr/>
        </p:nvSpPr>
        <p:spPr>
          <a:xfrm>
            <a:off x="2313432"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1" name="Text 9"/>
          <p:cNvSpPr txBox="1"/>
          <p:nvPr/>
        </p:nvSpPr>
        <p:spPr>
          <a:xfrm>
            <a:off x="2313432"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Collector</a:t>
            </a:r>
            <a:endParaRPr lang="en-US" sz="950" dirty="0"/>
          </a:p>
        </p:txBody>
      </p:sp>
      <p:sp>
        <p:nvSpPr>
          <p:cNvPr id="12" name="Shape 10"/>
          <p:cNvSpPr/>
          <p:nvPr/>
        </p:nvSpPr>
        <p:spPr>
          <a:xfrm>
            <a:off x="3630168" y="3154680"/>
            <a:ext cx="201168" cy="0"/>
          </a:xfrm>
          <a:prstGeom prst="line">
            <a:avLst/>
          </a:prstGeom>
          <a:noFill/>
          <a:ln w="25400">
            <a:solidFill>
              <a:srgbClr val="A8BF92"/>
            </a:solidFill>
            <a:prstDash val="solid"/>
            <a:tailEnd type="triangle"/>
          </a:ln>
        </p:spPr>
      </p:sp>
      <p:sp>
        <p:nvSpPr>
          <p:cNvPr id="13" name="Shape 11"/>
          <p:cNvSpPr/>
          <p:nvPr/>
        </p:nvSpPr>
        <p:spPr>
          <a:xfrm>
            <a:off x="3849624" y="2697480"/>
            <a:ext cx="1298448" cy="914400"/>
          </a:xfrm>
          <a:prstGeom prst="roundRect">
            <a:avLst>
              <a:gd name="adj" fmla="val 10000"/>
            </a:avLst>
          </a:prstGeom>
          <a:solidFill>
            <a:srgbClr val="1B4332"/>
          </a:solidFill>
          <a:ln/>
        </p:spPr>
      </p:sp>
      <p:sp>
        <p:nvSpPr>
          <p:cNvPr id="14" name="Text 12"/>
          <p:cNvSpPr txBox="1"/>
          <p:nvPr/>
        </p:nvSpPr>
        <p:spPr>
          <a:xfrm>
            <a:off x="3849624"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PP</a:t>
            </a:r>
            <a:endParaRPr lang="en-US" sz="1800" dirty="0"/>
          </a:p>
        </p:txBody>
      </p:sp>
      <p:sp>
        <p:nvSpPr>
          <p:cNvPr id="15" name="Text 13"/>
          <p:cNvSpPr txBox="1"/>
          <p:nvPr/>
        </p:nvSpPr>
        <p:spPr>
          <a:xfrm>
            <a:off x="3849624"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Pre-processor</a:t>
            </a:r>
            <a:endParaRPr lang="en-US" sz="950" dirty="0"/>
          </a:p>
        </p:txBody>
      </p:sp>
      <p:sp>
        <p:nvSpPr>
          <p:cNvPr id="16" name="Shape 14"/>
          <p:cNvSpPr/>
          <p:nvPr/>
        </p:nvSpPr>
        <p:spPr>
          <a:xfrm>
            <a:off x="5166360" y="3154680"/>
            <a:ext cx="201168" cy="0"/>
          </a:xfrm>
          <a:prstGeom prst="line">
            <a:avLst/>
          </a:prstGeom>
          <a:noFill/>
          <a:ln w="25400">
            <a:solidFill>
              <a:srgbClr val="A8BF92"/>
            </a:solidFill>
            <a:prstDash val="solid"/>
            <a:tailEnd type="triangle"/>
          </a:ln>
        </p:spPr>
      </p:sp>
      <p:sp>
        <p:nvSpPr>
          <p:cNvPr id="17" name="Shape 15"/>
          <p:cNvSpPr/>
          <p:nvPr/>
        </p:nvSpPr>
        <p:spPr>
          <a:xfrm>
            <a:off x="5385816" y="2697480"/>
            <a:ext cx="1298448" cy="914400"/>
          </a:xfrm>
          <a:prstGeom prst="roundRect">
            <a:avLst>
              <a:gd name="adj" fmla="val 10000"/>
            </a:avLst>
          </a:prstGeom>
          <a:solidFill>
            <a:srgbClr val="1B4332"/>
          </a:solidFill>
          <a:ln/>
        </p:spPr>
      </p:sp>
      <p:sp>
        <p:nvSpPr>
          <p:cNvPr id="18" name="Text 16"/>
          <p:cNvSpPr txBox="1"/>
          <p:nvPr/>
        </p:nvSpPr>
        <p:spPr>
          <a:xfrm>
            <a:off x="5385816"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M</a:t>
            </a:r>
            <a:endParaRPr lang="en-US" sz="1800" dirty="0"/>
          </a:p>
        </p:txBody>
      </p:sp>
      <p:sp>
        <p:nvSpPr>
          <p:cNvPr id="19" name="Text 17"/>
          <p:cNvSpPr txBox="1"/>
          <p:nvPr/>
        </p:nvSpPr>
        <p:spPr>
          <a:xfrm>
            <a:off x="5385816"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Model</a:t>
            </a:r>
            <a:endParaRPr lang="en-US" sz="950" dirty="0"/>
          </a:p>
        </p:txBody>
      </p:sp>
      <p:sp>
        <p:nvSpPr>
          <p:cNvPr id="20" name="Shape 18"/>
          <p:cNvSpPr/>
          <p:nvPr/>
        </p:nvSpPr>
        <p:spPr>
          <a:xfrm>
            <a:off x="6702552" y="3154680"/>
            <a:ext cx="201168" cy="0"/>
          </a:xfrm>
          <a:prstGeom prst="line">
            <a:avLst/>
          </a:prstGeom>
          <a:noFill/>
          <a:ln w="25400">
            <a:solidFill>
              <a:srgbClr val="A8BF92"/>
            </a:solidFill>
            <a:prstDash val="solid"/>
            <a:tailEnd type="triangle"/>
          </a:ln>
        </p:spPr>
      </p:sp>
      <p:sp>
        <p:nvSpPr>
          <p:cNvPr id="21" name="Shape 19"/>
          <p:cNvSpPr/>
          <p:nvPr/>
        </p:nvSpPr>
        <p:spPr>
          <a:xfrm>
            <a:off x="6922008" y="2697480"/>
            <a:ext cx="1298448" cy="914400"/>
          </a:xfrm>
          <a:prstGeom prst="roundRect">
            <a:avLst>
              <a:gd name="adj" fmla="val 10000"/>
            </a:avLst>
          </a:prstGeom>
          <a:solidFill>
            <a:srgbClr val="C4625A"/>
          </a:solidFill>
          <a:ln/>
        </p:spPr>
      </p:sp>
      <p:sp>
        <p:nvSpPr>
          <p:cNvPr id="22" name="Text 20"/>
          <p:cNvSpPr txBox="1"/>
          <p:nvPr/>
        </p:nvSpPr>
        <p:spPr>
          <a:xfrm>
            <a:off x="6922008"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a:t>
            </a:r>
            <a:endParaRPr lang="en-US" sz="1800" dirty="0"/>
          </a:p>
        </p:txBody>
      </p:sp>
      <p:sp>
        <p:nvSpPr>
          <p:cNvPr id="23" name="Text 21"/>
          <p:cNvSpPr txBox="1"/>
          <p:nvPr/>
        </p:nvSpPr>
        <p:spPr>
          <a:xfrm>
            <a:off x="6922008"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Policy</a:t>
            </a:r>
            <a:endParaRPr lang="en-US" sz="950" dirty="0"/>
          </a:p>
        </p:txBody>
      </p:sp>
      <p:sp>
        <p:nvSpPr>
          <p:cNvPr id="24" name="Shape 22"/>
          <p:cNvSpPr/>
          <p:nvPr/>
        </p:nvSpPr>
        <p:spPr>
          <a:xfrm>
            <a:off x="8238744" y="3154680"/>
            <a:ext cx="201168" cy="0"/>
          </a:xfrm>
          <a:prstGeom prst="line">
            <a:avLst/>
          </a:prstGeom>
          <a:noFill/>
          <a:ln w="25400">
            <a:solidFill>
              <a:srgbClr val="A8BF92"/>
            </a:solidFill>
            <a:prstDash val="solid"/>
            <a:tailEnd type="triangle"/>
          </a:ln>
        </p:spPr>
      </p:sp>
      <p:sp>
        <p:nvSpPr>
          <p:cNvPr id="25" name="Shape 23"/>
          <p:cNvSpPr/>
          <p:nvPr/>
        </p:nvSpPr>
        <p:spPr>
          <a:xfrm>
            <a:off x="8458200" y="2697480"/>
            <a:ext cx="1298448" cy="914400"/>
          </a:xfrm>
          <a:prstGeom prst="roundRect">
            <a:avLst>
              <a:gd name="adj" fmla="val 10000"/>
            </a:avLst>
          </a:prstGeom>
          <a:solidFill>
            <a:srgbClr val="1B4332"/>
          </a:solidFill>
          <a:ln/>
        </p:spPr>
      </p:sp>
      <p:sp>
        <p:nvSpPr>
          <p:cNvPr id="26" name="Text 24"/>
          <p:cNvSpPr txBox="1"/>
          <p:nvPr/>
        </p:nvSpPr>
        <p:spPr>
          <a:xfrm>
            <a:off x="8458200"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27" name="Text 25"/>
          <p:cNvSpPr txBox="1"/>
          <p:nvPr/>
        </p:nvSpPr>
        <p:spPr>
          <a:xfrm>
            <a:off x="8458200"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Distributor</a:t>
            </a:r>
            <a:endParaRPr lang="en-US" sz="950" dirty="0"/>
          </a:p>
        </p:txBody>
      </p:sp>
      <p:sp>
        <p:nvSpPr>
          <p:cNvPr id="28" name="Shape 26"/>
          <p:cNvSpPr/>
          <p:nvPr/>
        </p:nvSpPr>
        <p:spPr>
          <a:xfrm>
            <a:off x="9774936" y="3154680"/>
            <a:ext cx="201168" cy="0"/>
          </a:xfrm>
          <a:prstGeom prst="line">
            <a:avLst/>
          </a:prstGeom>
          <a:noFill/>
          <a:ln w="25400">
            <a:solidFill>
              <a:srgbClr val="A8BF92"/>
            </a:solidFill>
            <a:prstDash val="solid"/>
            <a:tailEnd type="triangle"/>
          </a:ln>
        </p:spPr>
      </p:sp>
      <p:sp>
        <p:nvSpPr>
          <p:cNvPr id="29" name="Shape 27"/>
          <p:cNvSpPr/>
          <p:nvPr/>
        </p:nvSpPr>
        <p:spPr>
          <a:xfrm>
            <a:off x="9994392" y="2697480"/>
            <a:ext cx="1298448" cy="914400"/>
          </a:xfrm>
          <a:prstGeom prst="roundRect">
            <a:avLst>
              <a:gd name="adj" fmla="val 10000"/>
            </a:avLst>
          </a:prstGeom>
          <a:solidFill>
            <a:srgbClr val="1B4332"/>
          </a:solidFill>
          <a:ln/>
        </p:spPr>
      </p:sp>
      <p:sp>
        <p:nvSpPr>
          <p:cNvPr id="30" name="Text 28"/>
          <p:cNvSpPr txBox="1"/>
          <p:nvPr/>
        </p:nvSpPr>
        <p:spPr>
          <a:xfrm>
            <a:off x="9994392" y="2816352"/>
            <a:ext cx="1298448"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SINK</a:t>
            </a:r>
            <a:endParaRPr lang="en-US" sz="1800" dirty="0"/>
          </a:p>
        </p:txBody>
      </p:sp>
      <p:sp>
        <p:nvSpPr>
          <p:cNvPr id="31" name="Text 29"/>
          <p:cNvSpPr txBox="1"/>
          <p:nvPr/>
        </p:nvSpPr>
        <p:spPr>
          <a:xfrm>
            <a:off x="9994392" y="3218688"/>
            <a:ext cx="1298448" cy="274320"/>
          </a:xfrm>
          <a:prstGeom prst="rect">
            <a:avLst/>
          </a:prstGeom>
          <a:noFill/>
          <a:ln/>
        </p:spPr>
        <p:txBody>
          <a:bodyPr wrap="square" lIns="0" tIns="0" rIns="0" bIns="0" rtlCol="0" anchor="ctr"/>
          <a:lstStyle/>
          <a:p>
            <a:pPr algn="ctr" indent="0" marL="0">
              <a:lnSpc>
                <a:spcPts val="2100"/>
              </a:lnSpc>
              <a:buNone/>
            </a:pPr>
            <a:r>
              <a:rPr lang="en-US" sz="950" dirty="0">
                <a:solidFill>
                  <a:srgbClr val="DCE8CF"/>
                </a:solidFill>
                <a:latin typeface="Calibri" pitchFamily="34" charset="0"/>
                <a:ea typeface="Calibri" pitchFamily="34" charset="-122"/>
                <a:cs typeface="Calibri" pitchFamily="34" charset="-120"/>
              </a:rPr>
              <a:t>Sink</a:t>
            </a:r>
            <a:endParaRPr lang="en-US" sz="950" dirty="0"/>
          </a:p>
        </p:txBody>
      </p:sp>
      <p:sp>
        <p:nvSpPr>
          <p:cNvPr id="32" name="Text 30"/>
          <p:cNvSpPr txBox="1"/>
          <p:nvPr/>
        </p:nvSpPr>
        <p:spPr>
          <a:xfrm>
            <a:off x="777240" y="3730752"/>
            <a:ext cx="10424160" cy="274320"/>
          </a:xfrm>
          <a:prstGeom prst="rect">
            <a:avLst/>
          </a:prstGeom>
          <a:noFill/>
          <a:ln/>
        </p:spPr>
        <p:txBody>
          <a:bodyPr wrap="square" lIns="0" tIns="0" rIns="0" bIns="0" rtlCol="0" anchor="ctr"/>
          <a:lstStyle/>
          <a:p>
            <a:pPr indent="0" marL="0">
              <a:lnSpc>
                <a:spcPts val="2100"/>
              </a:lnSpc>
              <a:buNone/>
            </a:pPr>
            <a:r>
              <a:rPr lang="en-US" sz="1150" i="1" dirty="0">
                <a:solidFill>
                  <a:srgbClr val="C4625A"/>
                </a:solidFill>
                <a:latin typeface="Calibri" pitchFamily="34" charset="0"/>
                <a:ea typeface="Calibri" pitchFamily="34" charset="-122"/>
                <a:cs typeface="Calibri" pitchFamily="34" charset="-120"/>
              </a:rPr>
              <a:t>The Policy node turns red and states its reason when it blocks a request.</a:t>
            </a:r>
            <a:endParaRPr lang="en-US" sz="1150" dirty="0"/>
          </a:p>
        </p:txBody>
      </p:sp>
      <p:sp>
        <p:nvSpPr>
          <p:cNvPr id="33" name="Shape 31"/>
          <p:cNvSpPr/>
          <p:nvPr/>
        </p:nvSpPr>
        <p:spPr>
          <a:xfrm>
            <a:off x="777240" y="4206240"/>
            <a:ext cx="3291840" cy="1481328"/>
          </a:xfrm>
          <a:prstGeom prst="roundRect">
            <a:avLst>
              <a:gd name="adj" fmla="val 8642"/>
            </a:avLst>
          </a:prstGeom>
          <a:solidFill>
            <a:srgbClr val="FFFFFF"/>
          </a:solidFill>
          <a:ln/>
          <a:effectLst>
            <a:outerShdw sx="100000" sy="100000" kx="0" ky="0" algn="bl" rotWithShape="0" blurRad="152400" dist="38100" dir="5400000">
              <a:srgbClr val="3A2A1C">
                <a:alpha val="10000"/>
              </a:srgbClr>
            </a:outerShdw>
          </a:effectLst>
        </p:spPr>
      </p:sp>
      <p:sp>
        <p:nvSpPr>
          <p:cNvPr id="34" name="Text 32"/>
          <p:cNvSpPr txBox="1"/>
          <p:nvPr/>
        </p:nvSpPr>
        <p:spPr>
          <a:xfrm>
            <a:off x="1033272" y="4407408"/>
            <a:ext cx="2834640" cy="274320"/>
          </a:xfrm>
          <a:prstGeom prst="rect">
            <a:avLst/>
          </a:prstGeom>
          <a:noFill/>
          <a:ln/>
        </p:spPr>
        <p:txBody>
          <a:bodyPr wrap="square" lIns="0" tIns="0" rIns="0" bIns="0" rtlCol="0" anchor="ctr"/>
          <a:lstStyle/>
          <a:p>
            <a:pPr indent="0" marL="0">
              <a:lnSpc>
                <a:spcPts val="2100"/>
              </a:lnSpc>
              <a:buNone/>
            </a:pPr>
            <a:r>
              <a:rPr lang="en-US" sz="1300" b="1" dirty="0">
                <a:solidFill>
                  <a:srgbClr val="1B4332"/>
                </a:solidFill>
                <a:latin typeface="Calibri" pitchFamily="34" charset="0"/>
                <a:ea typeface="Calibri" pitchFamily="34" charset="-122"/>
                <a:cs typeface="Calibri" pitchFamily="34" charset="-120"/>
              </a:rPr>
              <a:t>M — Model</a:t>
            </a:r>
            <a:endParaRPr lang="en-US" sz="1300" dirty="0"/>
          </a:p>
        </p:txBody>
      </p:sp>
      <p:sp>
        <p:nvSpPr>
          <p:cNvPr id="35" name="Text 33"/>
          <p:cNvSpPr txBox="1"/>
          <p:nvPr/>
        </p:nvSpPr>
        <p:spPr>
          <a:xfrm>
            <a:off x="1033272" y="4700016"/>
            <a:ext cx="2834640" cy="9144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Rule-based growth, stress and pest engine. Designed to be swapped for a trained predictor with no other node changing.</a:t>
            </a:r>
            <a:endParaRPr lang="en-US" sz="1150" dirty="0"/>
          </a:p>
        </p:txBody>
      </p:sp>
      <p:sp>
        <p:nvSpPr>
          <p:cNvPr id="36" name="Shape 34"/>
          <p:cNvSpPr/>
          <p:nvPr/>
        </p:nvSpPr>
        <p:spPr>
          <a:xfrm>
            <a:off x="4389120" y="4206240"/>
            <a:ext cx="3291840" cy="1481328"/>
          </a:xfrm>
          <a:prstGeom prst="roundRect">
            <a:avLst>
              <a:gd name="adj" fmla="val 8642"/>
            </a:avLst>
          </a:prstGeom>
          <a:solidFill>
            <a:srgbClr val="FFFFFF"/>
          </a:solidFill>
          <a:ln/>
          <a:effectLst>
            <a:outerShdw sx="100000" sy="100000" kx="0" ky="0" algn="bl" rotWithShape="0" blurRad="152400" dist="38100" dir="5400000">
              <a:srgbClr val="3A2A1C">
                <a:alpha val="10000"/>
              </a:srgbClr>
            </a:outerShdw>
          </a:effectLst>
        </p:spPr>
      </p:sp>
      <p:sp>
        <p:nvSpPr>
          <p:cNvPr id="37" name="Text 35"/>
          <p:cNvSpPr txBox="1"/>
          <p:nvPr/>
        </p:nvSpPr>
        <p:spPr>
          <a:xfrm>
            <a:off x="4645152" y="4407408"/>
            <a:ext cx="2834640" cy="274320"/>
          </a:xfrm>
          <a:prstGeom prst="rect">
            <a:avLst/>
          </a:prstGeom>
          <a:noFill/>
          <a:ln/>
        </p:spPr>
        <p:txBody>
          <a:bodyPr wrap="square" lIns="0" tIns="0" rIns="0" bIns="0" rtlCol="0" anchor="ctr"/>
          <a:lstStyle/>
          <a:p>
            <a:pPr indent="0" marL="0">
              <a:lnSpc>
                <a:spcPts val="2100"/>
              </a:lnSpc>
              <a:buNone/>
            </a:pPr>
            <a:r>
              <a:rPr lang="en-US" sz="1300" b="1" dirty="0">
                <a:solidFill>
                  <a:srgbClr val="1B4332"/>
                </a:solidFill>
                <a:latin typeface="Calibri" pitchFamily="34" charset="0"/>
                <a:ea typeface="Calibri" pitchFamily="34" charset="-122"/>
                <a:cs typeface="Calibri" pitchFamily="34" charset="-120"/>
              </a:rPr>
              <a:t>P — Policy</a:t>
            </a:r>
            <a:endParaRPr lang="en-US" sz="1300" dirty="0"/>
          </a:p>
        </p:txBody>
      </p:sp>
      <p:sp>
        <p:nvSpPr>
          <p:cNvPr id="38" name="Text 36"/>
          <p:cNvSpPr txBox="1"/>
          <p:nvPr/>
        </p:nvSpPr>
        <p:spPr>
          <a:xfrm>
            <a:off x="4645152" y="4700016"/>
            <a:ext cx="2834640" cy="9144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Rule checks that can refuse a decision before it reaches the plant, with the reason surfaced to the farmer.</a:t>
            </a:r>
            <a:endParaRPr lang="en-US" sz="1150" dirty="0"/>
          </a:p>
        </p:txBody>
      </p:sp>
      <p:sp>
        <p:nvSpPr>
          <p:cNvPr id="39" name="Shape 37"/>
          <p:cNvSpPr/>
          <p:nvPr/>
        </p:nvSpPr>
        <p:spPr>
          <a:xfrm>
            <a:off x="8001000" y="4206240"/>
            <a:ext cx="3291840" cy="1481328"/>
          </a:xfrm>
          <a:prstGeom prst="roundRect">
            <a:avLst>
              <a:gd name="adj" fmla="val 8642"/>
            </a:avLst>
          </a:prstGeom>
          <a:solidFill>
            <a:srgbClr val="FFFFFF"/>
          </a:solidFill>
          <a:ln/>
          <a:effectLst>
            <a:outerShdw sx="100000" sy="100000" kx="0" ky="0" algn="bl" rotWithShape="0" blurRad="152400" dist="38100" dir="5400000">
              <a:srgbClr val="3A2A1C">
                <a:alpha val="10000"/>
              </a:srgbClr>
            </a:outerShdw>
          </a:effectLst>
        </p:spPr>
      </p:sp>
      <p:sp>
        <p:nvSpPr>
          <p:cNvPr id="40" name="Text 38"/>
          <p:cNvSpPr txBox="1"/>
          <p:nvPr/>
        </p:nvSpPr>
        <p:spPr>
          <a:xfrm>
            <a:off x="8257032" y="4407408"/>
            <a:ext cx="2834640" cy="274320"/>
          </a:xfrm>
          <a:prstGeom prst="rect">
            <a:avLst/>
          </a:prstGeom>
          <a:noFill/>
          <a:ln/>
        </p:spPr>
        <p:txBody>
          <a:bodyPr wrap="square" lIns="0" tIns="0" rIns="0" bIns="0" rtlCol="0" anchor="ctr"/>
          <a:lstStyle/>
          <a:p>
            <a:pPr indent="0" marL="0">
              <a:lnSpc>
                <a:spcPts val="2100"/>
              </a:lnSpc>
              <a:buNone/>
            </a:pPr>
            <a:r>
              <a:rPr lang="en-US" sz="1300" b="1" dirty="0">
                <a:solidFill>
                  <a:srgbClr val="1B4332"/>
                </a:solidFill>
                <a:latin typeface="Calibri" pitchFamily="34" charset="0"/>
                <a:ea typeface="Calibri" pitchFamily="34" charset="-122"/>
                <a:cs typeface="Calibri" pitchFamily="34" charset="-120"/>
              </a:rPr>
              <a:t>MLFO + Sandbox</a:t>
            </a:r>
            <a:endParaRPr lang="en-US" sz="1300" dirty="0"/>
          </a:p>
        </p:txBody>
      </p:sp>
      <p:sp>
        <p:nvSpPr>
          <p:cNvPr id="41" name="Text 39"/>
          <p:cNvSpPr txBox="1"/>
          <p:nvPr/>
        </p:nvSpPr>
        <p:spPr>
          <a:xfrm>
            <a:off x="8257032" y="4700016"/>
            <a:ext cx="2834640" cy="9144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The orchestrator sequences the nodes; the simulator itself is the ML Sandbox the Recommendation defines.</a:t>
            </a:r>
            <a:endParaRPr lang="en-US" sz="1150" dirty="0"/>
          </a:p>
        </p:txBody>
      </p:sp>
      <p:sp>
        <p:nvSpPr>
          <p:cNvPr id="42" name="Text 40"/>
          <p:cNvSpPr txBox="1"/>
          <p:nvPr/>
        </p:nvSpPr>
        <p:spPr>
          <a:xfrm>
            <a:off x="777240" y="5897880"/>
            <a:ext cx="10424160" cy="320040"/>
          </a:xfrm>
          <a:prstGeom prst="rect">
            <a:avLst/>
          </a:prstGeom>
          <a:noFill/>
          <a:ln/>
        </p:spPr>
        <p:txBody>
          <a:bodyPr wrap="square" lIns="0" tIns="0" rIns="0" bIns="0" rtlCol="0" anchor="ctr"/>
          <a:lstStyle/>
          <a:p>
            <a:pPr indent="0" marL="0">
              <a:lnSpc>
                <a:spcPts val="2100"/>
              </a:lnSpc>
              <a:buNone/>
            </a:pPr>
            <a:r>
              <a:rPr lang="en-US" sz="1100" i="1" dirty="0">
                <a:solidFill>
                  <a:srgbClr val="8B8073"/>
                </a:solidFill>
                <a:latin typeface="Calibri" pitchFamily="34" charset="0"/>
                <a:ea typeface="Calibri" pitchFamily="34" charset="-122"/>
                <a:cs typeface="Calibri" pitchFamily="34" charset="-120"/>
              </a:rPr>
              <a:t>Prototype disclosure: the Model node is rule-based, not trained. All farm figures are illustrative. No accuracy or production-readiness claims are made.</a:t>
            </a:r>
            <a:endParaRPr lang="en-US" sz="1100" dirty="0"/>
          </a:p>
        </p:txBody>
      </p:sp>
      <p:sp>
        <p:nvSpPr>
          <p:cNvPr id="43" name="Text 41"/>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44" name="Text 42"/>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LAYER THREE · OPERATIONS</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A diagnosis in seconds, online or off</a:t>
            </a:r>
            <a:endParaRPr lang="en-US" sz="3800" dirty="0"/>
          </a:p>
        </p:txBody>
      </p:sp>
      <p:sp>
        <p:nvSpPr>
          <p:cNvPr id="4" name="Shape 2"/>
          <p:cNvSpPr/>
          <p:nvPr/>
        </p:nvSpPr>
        <p:spPr>
          <a:xfrm>
            <a:off x="777240" y="1965960"/>
            <a:ext cx="5074920" cy="3429000"/>
          </a:xfrm>
          <a:prstGeom prst="roundRect">
            <a:avLst>
              <a:gd name="adj" fmla="val 3733"/>
            </a:avLst>
          </a:prstGeom>
          <a:solidFill>
            <a:srgbClr val="FFFFFF"/>
          </a:solidFill>
          <a:ln/>
          <a:effectLst>
            <a:outerShdw sx="100000" sy="100000" kx="0" ky="0" algn="bl" rotWithShape="0" blurRad="152400" dist="38100" dir="5400000">
              <a:srgbClr val="3A2A1C">
                <a:alpha val="10000"/>
              </a:srgbClr>
            </a:outerShdw>
          </a:effectLst>
        </p:spPr>
      </p:sp>
      <p:sp>
        <p:nvSpPr>
          <p:cNvPr id="5" name="Shape 3"/>
          <p:cNvSpPr/>
          <p:nvPr/>
        </p:nvSpPr>
        <p:spPr>
          <a:xfrm>
            <a:off x="1143000" y="2286000"/>
            <a:ext cx="603504" cy="603504"/>
          </a:xfrm>
          <a:prstGeom prst="ellipse">
            <a:avLst/>
          </a:prstGeom>
          <a:solidFill>
            <a:srgbClr val="40916C"/>
          </a:solidFill>
          <a:ln/>
        </p:spPr>
      </p:sp>
      <p:sp>
        <p:nvSpPr>
          <p:cNvPr id="6" name="Text 4"/>
          <p:cNvSpPr txBox="1"/>
          <p:nvPr/>
        </p:nvSpPr>
        <p:spPr>
          <a:xfrm>
            <a:off x="1143000" y="228600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874520" y="2377440"/>
            <a:ext cx="3657600" cy="36576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With a Gemini key</a:t>
            </a:r>
            <a:endParaRPr lang="en-US" sz="1800" dirty="0"/>
          </a:p>
        </p:txBody>
      </p:sp>
      <p:sp>
        <p:nvSpPr>
          <p:cNvPr id="8" name="Text 6"/>
          <p:cNvSpPr txBox="1"/>
          <p:nvPr/>
        </p:nvSpPr>
        <p:spPr>
          <a:xfrm>
            <a:off x="1161288" y="3063240"/>
            <a:ext cx="4480560" cy="187452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The photo goes to Gemini vision with the Jazan context in the prompt</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Returns species, life stage, a health score out of 100, and a status band</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Plus a diagnosis, likely causes, and concrete steps to take this week</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Scans attach to a registered plant and build a diagnostic history</a:t>
            </a:r>
            <a:endParaRPr lang="en-US" sz="1350" dirty="0"/>
          </a:p>
        </p:txBody>
      </p:sp>
      <p:sp>
        <p:nvSpPr>
          <p:cNvPr id="9" name="Shape 7"/>
          <p:cNvSpPr/>
          <p:nvPr/>
        </p:nvSpPr>
        <p:spPr>
          <a:xfrm>
            <a:off x="6309360" y="1965960"/>
            <a:ext cx="5074920" cy="3429000"/>
          </a:xfrm>
          <a:prstGeom prst="roundRect">
            <a:avLst>
              <a:gd name="adj" fmla="val 3733"/>
            </a:avLst>
          </a:prstGeom>
          <a:solidFill>
            <a:srgbClr val="DCE8CF"/>
          </a:solidFill>
          <a:ln/>
          <a:effectLst>
            <a:outerShdw sx="100000" sy="100000" kx="0" ky="0" algn="bl" rotWithShape="0" blurRad="152400" dist="38100" dir="5400000">
              <a:srgbClr val="3A2A1C">
                <a:alpha val="10000"/>
              </a:srgbClr>
            </a:outerShdw>
          </a:effectLst>
        </p:spPr>
      </p:sp>
      <p:sp>
        <p:nvSpPr>
          <p:cNvPr id="10" name="Shape 8"/>
          <p:cNvSpPr/>
          <p:nvPr/>
        </p:nvSpPr>
        <p:spPr>
          <a:xfrm>
            <a:off x="6675120" y="2286000"/>
            <a:ext cx="603504" cy="603504"/>
          </a:xfrm>
          <a:prstGeom prst="ellipse">
            <a:avLst/>
          </a:prstGeom>
          <a:solidFill>
            <a:srgbClr val="6B4A35"/>
          </a:solidFill>
          <a:ln/>
        </p:spPr>
      </p:sp>
      <p:sp>
        <p:nvSpPr>
          <p:cNvPr id="11" name="Text 9"/>
          <p:cNvSpPr txBox="1"/>
          <p:nvPr/>
        </p:nvSpPr>
        <p:spPr>
          <a:xfrm>
            <a:off x="6675120" y="228600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7406640" y="2377440"/>
            <a:ext cx="3657600" cy="36576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With no key at all</a:t>
            </a:r>
            <a:endParaRPr lang="en-US" sz="1800" dirty="0"/>
          </a:p>
        </p:txBody>
      </p:sp>
      <p:sp>
        <p:nvSpPr>
          <p:cNvPr id="13" name="Text 11"/>
          <p:cNvSpPr txBox="1"/>
          <p:nvPr/>
        </p:nvSpPr>
        <p:spPr>
          <a:xfrm>
            <a:off x="6693408" y="3063240"/>
            <a:ext cx="4480560" cy="187452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350" dirty="0">
                <a:solidFill>
                  <a:srgbClr val="2F4A38"/>
                </a:solidFill>
                <a:latin typeface="Calibri" pitchFamily="34" charset="0"/>
                <a:ea typeface="Calibri" pitchFamily="34" charset="-122"/>
                <a:cs typeface="Calibri" pitchFamily="34" charset="-120"/>
              </a:rPr>
              <a:t>An on-device analysis samples the image pixel by pixel</a:t>
            </a:r>
            <a:endParaRPr lang="en-US" sz="1350" dirty="0"/>
          </a:p>
          <a:p>
            <a:pPr marL="342900" indent="-342900">
              <a:lnSpc>
                <a:spcPts val="2000"/>
              </a:lnSpc>
              <a:spcAft>
                <a:spcPts val="700"/>
              </a:spcAft>
              <a:buSzPct val="100000"/>
              <a:buChar char="•"/>
            </a:pPr>
            <a:r>
              <a:rPr lang="en-US" sz="1350" dirty="0">
                <a:solidFill>
                  <a:srgbClr val="2F4A38"/>
                </a:solidFill>
                <a:latin typeface="Calibri" pitchFamily="34" charset="0"/>
                <a:ea typeface="Calibri" pitchFamily="34" charset="-122"/>
                <a:cs typeface="Calibri" pitchFamily="34" charset="-120"/>
              </a:rPr>
              <a:t>Measures healthy chlorophyll green against chlorotic and necrotic tissue</a:t>
            </a:r>
            <a:endParaRPr lang="en-US" sz="1350" dirty="0"/>
          </a:p>
          <a:p>
            <a:pPr marL="342900" indent="-342900">
              <a:lnSpc>
                <a:spcPts val="2000"/>
              </a:lnSpc>
              <a:spcAft>
                <a:spcPts val="700"/>
              </a:spcAft>
              <a:buSzPct val="100000"/>
              <a:buChar char="•"/>
            </a:pPr>
            <a:r>
              <a:rPr lang="en-US" sz="1350" dirty="0">
                <a:solidFill>
                  <a:srgbClr val="2F4A38"/>
                </a:solidFill>
                <a:latin typeface="Calibri" pitchFamily="34" charset="0"/>
                <a:ea typeface="Calibri" pitchFamily="34" charset="-122"/>
                <a:cs typeface="Calibri" pitchFamily="34" charset="-120"/>
              </a:rPr>
              <a:t>Returns a health score and applicable guidance, labelled as the fallback it is</a:t>
            </a:r>
            <a:endParaRPr lang="en-US" sz="1350" dirty="0"/>
          </a:p>
          <a:p>
            <a:pPr marL="342900" indent="-342900">
              <a:lnSpc>
                <a:spcPts val="2000"/>
              </a:lnSpc>
              <a:spcAft>
                <a:spcPts val="700"/>
              </a:spcAft>
              <a:buSzPct val="100000"/>
              <a:buChar char="•"/>
            </a:pPr>
            <a:r>
              <a:rPr lang="en-US" sz="1350" dirty="0">
                <a:solidFill>
                  <a:srgbClr val="2F4A38"/>
                </a:solidFill>
                <a:latin typeface="Calibri" pitchFamily="34" charset="0"/>
                <a:ea typeface="Calibri" pitchFamily="34" charset="-122"/>
                <a:cs typeface="Calibri" pitchFamily="34" charset="-120"/>
              </a:rPr>
              <a:t>No network, no account, no cost — which is what a smallholder can actually use</a:t>
            </a:r>
            <a:endParaRPr lang="en-US" sz="1350" dirty="0"/>
          </a:p>
        </p:txBody>
      </p:sp>
      <p:sp>
        <p:nvSpPr>
          <p:cNvPr id="14" name="Shape 12"/>
          <p:cNvSpPr/>
          <p:nvPr/>
        </p:nvSpPr>
        <p:spPr>
          <a:xfrm>
            <a:off x="777240" y="5559552"/>
            <a:ext cx="10607040" cy="621792"/>
          </a:xfrm>
          <a:prstGeom prst="roundRect">
            <a:avLst>
              <a:gd name="adj" fmla="val 20588"/>
            </a:avLst>
          </a:prstGeom>
          <a:solidFill>
            <a:srgbClr val="1B4332"/>
          </a:solidFill>
          <a:ln/>
        </p:spPr>
      </p:sp>
      <p:sp>
        <p:nvSpPr>
          <p:cNvPr id="15" name="Text 13"/>
          <p:cNvSpPr txBox="1"/>
          <p:nvPr/>
        </p:nvSpPr>
        <p:spPr>
          <a:xfrm>
            <a:off x="1188720" y="5705856"/>
            <a:ext cx="9784080" cy="402336"/>
          </a:xfrm>
          <a:prstGeom prst="rect">
            <a:avLst/>
          </a:prstGeom>
          <a:noFill/>
          <a:ln/>
        </p:spPr>
        <p:txBody>
          <a:bodyPr wrap="square" lIns="0" tIns="0" rIns="0" bIns="0" rtlCol="0" anchor="ctr"/>
          <a:lstStyle/>
          <a:p>
            <a:pPr indent="0" marL="0">
              <a:lnSpc>
                <a:spcPts val="1700"/>
              </a:lnSpc>
              <a:buNone/>
            </a:pPr>
            <a:r>
              <a:rPr lang="en-US" sz="1250" dirty="0">
                <a:solidFill>
                  <a:srgbClr val="DCE8CF"/>
                </a:solidFill>
                <a:latin typeface="Calibri" pitchFamily="34" charset="0"/>
                <a:ea typeface="Calibri" pitchFamily="34" charset="-122"/>
                <a:cs typeface="Calibri" pitchFamily="34" charset="-120"/>
              </a:rPr>
              <a:t>Every network-dependent feature degrades rather than fails, and says which mode it is in. That is a design position, not a limitation: a tool that goes dark when the signal does is not a tool for a field.</a:t>
            </a:r>
            <a:endParaRPr lang="en-US" sz="1250" dirty="0"/>
          </a:p>
        </p:txBody>
      </p:sp>
      <p:sp>
        <p:nvSpPr>
          <p:cNvPr id="16" name="Text 14"/>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17" name="Text 15"/>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LAYER THREE · OPERATIONS</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Weather that carries the decision</a:t>
            </a:r>
            <a:endParaRPr lang="en-US" sz="3800" dirty="0"/>
          </a:p>
        </p:txBody>
      </p:sp>
      <p:sp>
        <p:nvSpPr>
          <p:cNvPr id="4" name="Shape 2"/>
          <p:cNvSpPr/>
          <p:nvPr/>
        </p:nvSpPr>
        <p:spPr>
          <a:xfrm>
            <a:off x="777240" y="1965960"/>
            <a:ext cx="5074920" cy="1691640"/>
          </a:xfrm>
          <a:prstGeom prst="roundRect">
            <a:avLst>
              <a:gd name="adj" fmla="val 7568"/>
            </a:avLst>
          </a:prstGeom>
          <a:solidFill>
            <a:srgbClr val="FFFFFF"/>
          </a:solidFill>
          <a:ln/>
          <a:effectLst>
            <a:outerShdw sx="100000" sy="100000" kx="0" ky="0" algn="bl" rotWithShape="0" blurRad="152400" dist="38100" dir="5400000">
              <a:srgbClr val="3A2A1C">
                <a:alpha val="10000"/>
              </a:srgbClr>
            </a:outerShdw>
          </a:effectLst>
        </p:spPr>
      </p:sp>
      <p:sp>
        <p:nvSpPr>
          <p:cNvPr id="5" name="Shape 3"/>
          <p:cNvSpPr/>
          <p:nvPr/>
        </p:nvSpPr>
        <p:spPr>
          <a:xfrm>
            <a:off x="1069848" y="2240280"/>
            <a:ext cx="548640" cy="548640"/>
          </a:xfrm>
          <a:prstGeom prst="ellipse">
            <a:avLst/>
          </a:prstGeom>
          <a:solidFill>
            <a:srgbClr val="C4625A"/>
          </a:solidFill>
          <a:ln/>
        </p:spPr>
      </p:sp>
      <p:sp>
        <p:nvSpPr>
          <p:cNvPr id="6" name="Text 4"/>
          <p:cNvSpPr txBox="1"/>
          <p:nvPr/>
        </p:nvSpPr>
        <p:spPr>
          <a:xfrm>
            <a:off x="1069848"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1764792" y="2185416"/>
            <a:ext cx="3840480" cy="292608"/>
          </a:xfrm>
          <a:prstGeom prst="rect">
            <a:avLst/>
          </a:prstGeom>
          <a:noFill/>
          <a:ln/>
        </p:spPr>
        <p:txBody>
          <a:bodyPr wrap="square" lIns="0" tIns="0" rIns="0" bIns="0" rtlCol="0" anchor="ctr"/>
          <a:lstStyle/>
          <a:p>
            <a:pPr indent="0" marL="0">
              <a:buNone/>
            </a:pPr>
            <a:r>
              <a:rPr lang="en-US" sz="1550" b="1" dirty="0">
                <a:solidFill>
                  <a:srgbClr val="1B4332"/>
                </a:solidFill>
                <a:latin typeface="Cambria" pitchFamily="34" charset="0"/>
                <a:ea typeface="Cambria" pitchFamily="34" charset="-122"/>
                <a:cs typeface="Cambria" pitchFamily="34" charset="-120"/>
              </a:rPr>
              <a:t>Heat stress above 42 °C</a:t>
            </a:r>
            <a:endParaRPr lang="en-US" sz="1550" dirty="0"/>
          </a:p>
        </p:txBody>
      </p:sp>
      <p:sp>
        <p:nvSpPr>
          <p:cNvPr id="8" name="Text 6"/>
          <p:cNvSpPr txBox="1"/>
          <p:nvPr/>
        </p:nvSpPr>
        <p:spPr>
          <a:xfrm>
            <a:off x="1764792" y="2532888"/>
            <a:ext cx="3840480" cy="4572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Transpiration outruns root supply and flowering crops abort fruit set.</a:t>
            </a:r>
            <a:endParaRPr lang="en-US" sz="1150" dirty="0"/>
          </a:p>
        </p:txBody>
      </p:sp>
      <p:sp>
        <p:nvSpPr>
          <p:cNvPr id="9" name="Text 7"/>
          <p:cNvSpPr txBox="1"/>
          <p:nvPr/>
        </p:nvSpPr>
        <p:spPr>
          <a:xfrm>
            <a:off x="1764792" y="3026664"/>
            <a:ext cx="3840480" cy="502920"/>
          </a:xfrm>
          <a:prstGeom prst="rect">
            <a:avLst/>
          </a:prstGeom>
          <a:noFill/>
          <a:ln/>
        </p:spPr>
        <p:txBody>
          <a:bodyPr wrap="square" lIns="0" tIns="0" rIns="0" bIns="0" rtlCol="0" anchor="ctr"/>
          <a:lstStyle/>
          <a:p>
            <a:pPr indent="0" marL="0">
              <a:lnSpc>
                <a:spcPts val="1600"/>
              </a:lnSpc>
              <a:buNone/>
            </a:pPr>
            <a:r>
              <a:rPr lang="en-US" sz="1150" b="1" dirty="0">
                <a:solidFill>
                  <a:srgbClr val="40916C"/>
                </a:solidFill>
                <a:latin typeface="Calibri" pitchFamily="34" charset="0"/>
                <a:ea typeface="Calibri" pitchFamily="34" charset="-122"/>
                <a:cs typeface="Calibri" pitchFamily="34" charset="-120"/>
              </a:rPr>
              <a:t>→ Irrigate before sunrise, shade seedlings, hold mulch on the root zone.</a:t>
            </a:r>
            <a:endParaRPr lang="en-US" sz="1150" dirty="0"/>
          </a:p>
        </p:txBody>
      </p:sp>
      <p:sp>
        <p:nvSpPr>
          <p:cNvPr id="10" name="Shape 8"/>
          <p:cNvSpPr/>
          <p:nvPr/>
        </p:nvSpPr>
        <p:spPr>
          <a:xfrm>
            <a:off x="6263640" y="1965960"/>
            <a:ext cx="5074920" cy="1691640"/>
          </a:xfrm>
          <a:prstGeom prst="roundRect">
            <a:avLst>
              <a:gd name="adj" fmla="val 7568"/>
            </a:avLst>
          </a:prstGeom>
          <a:solidFill>
            <a:srgbClr val="FFFFFF"/>
          </a:solidFill>
          <a:ln/>
          <a:effectLst>
            <a:outerShdw sx="100000" sy="100000" kx="0" ky="0" algn="bl" rotWithShape="0" blurRad="152400" dist="38100" dir="5400000">
              <a:srgbClr val="3A2A1C">
                <a:alpha val="10000"/>
              </a:srgbClr>
            </a:outerShdw>
          </a:effectLst>
        </p:spPr>
      </p:sp>
      <p:sp>
        <p:nvSpPr>
          <p:cNvPr id="11" name="Shape 9"/>
          <p:cNvSpPr/>
          <p:nvPr/>
        </p:nvSpPr>
        <p:spPr>
          <a:xfrm>
            <a:off x="6556248" y="2240280"/>
            <a:ext cx="548640" cy="548640"/>
          </a:xfrm>
          <a:prstGeom prst="ellipse">
            <a:avLst/>
          </a:prstGeom>
          <a:solidFill>
            <a:srgbClr val="D9A63F"/>
          </a:solidFill>
          <a:ln/>
        </p:spPr>
      </p:sp>
      <p:sp>
        <p:nvSpPr>
          <p:cNvPr id="12" name="Text 10"/>
          <p:cNvSpPr txBox="1"/>
          <p:nvPr/>
        </p:nvSpPr>
        <p:spPr>
          <a:xfrm>
            <a:off x="6556248" y="2240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7251192" y="2185416"/>
            <a:ext cx="3840480" cy="292608"/>
          </a:xfrm>
          <a:prstGeom prst="rect">
            <a:avLst/>
          </a:prstGeom>
          <a:noFill/>
          <a:ln/>
        </p:spPr>
        <p:txBody>
          <a:bodyPr wrap="square" lIns="0" tIns="0" rIns="0" bIns="0" rtlCol="0" anchor="ctr"/>
          <a:lstStyle/>
          <a:p>
            <a:pPr indent="0" marL="0">
              <a:buNone/>
            </a:pPr>
            <a:r>
              <a:rPr lang="en-US" sz="1550" b="1" dirty="0">
                <a:solidFill>
                  <a:srgbClr val="1B4332"/>
                </a:solidFill>
                <a:latin typeface="Cambria" pitchFamily="34" charset="0"/>
                <a:ea typeface="Cambria" pitchFamily="34" charset="-122"/>
                <a:cs typeface="Cambria" pitchFamily="34" charset="-120"/>
              </a:rPr>
              <a:t>Sharp temperature swing</a:t>
            </a:r>
            <a:endParaRPr lang="en-US" sz="1550" dirty="0"/>
          </a:p>
        </p:txBody>
      </p:sp>
      <p:sp>
        <p:nvSpPr>
          <p:cNvPr id="14" name="Text 12"/>
          <p:cNvSpPr txBox="1"/>
          <p:nvPr/>
        </p:nvSpPr>
        <p:spPr>
          <a:xfrm>
            <a:off x="7251192" y="2532888"/>
            <a:ext cx="3840480" cy="4572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Six degrees or more in a day cracks fruit skin and shocks transplants.</a:t>
            </a:r>
            <a:endParaRPr lang="en-US" sz="1150" dirty="0"/>
          </a:p>
        </p:txBody>
      </p:sp>
      <p:sp>
        <p:nvSpPr>
          <p:cNvPr id="15" name="Text 13"/>
          <p:cNvSpPr txBox="1"/>
          <p:nvPr/>
        </p:nvSpPr>
        <p:spPr>
          <a:xfrm>
            <a:off x="7251192" y="3026664"/>
            <a:ext cx="3840480" cy="502920"/>
          </a:xfrm>
          <a:prstGeom prst="rect">
            <a:avLst/>
          </a:prstGeom>
          <a:noFill/>
          <a:ln/>
        </p:spPr>
        <p:txBody>
          <a:bodyPr wrap="square" lIns="0" tIns="0" rIns="0" bIns="0" rtlCol="0" anchor="ctr"/>
          <a:lstStyle/>
          <a:p>
            <a:pPr indent="0" marL="0">
              <a:lnSpc>
                <a:spcPts val="1600"/>
              </a:lnSpc>
              <a:buNone/>
            </a:pPr>
            <a:r>
              <a:rPr lang="en-US" sz="1150" b="1" dirty="0">
                <a:solidFill>
                  <a:srgbClr val="40916C"/>
                </a:solidFill>
                <a:latin typeface="Calibri" pitchFamily="34" charset="0"/>
                <a:ea typeface="Calibri" pitchFamily="34" charset="-122"/>
                <a:cs typeface="Calibri" pitchFamily="34" charset="-120"/>
              </a:rPr>
              <a:t>→ Bring irrigation forward; delay transplanting until it settles.</a:t>
            </a:r>
            <a:endParaRPr lang="en-US" sz="1150" dirty="0"/>
          </a:p>
        </p:txBody>
      </p:sp>
      <p:sp>
        <p:nvSpPr>
          <p:cNvPr id="16" name="Shape 14"/>
          <p:cNvSpPr/>
          <p:nvPr/>
        </p:nvSpPr>
        <p:spPr>
          <a:xfrm>
            <a:off x="777240" y="3886200"/>
            <a:ext cx="5074920" cy="1691640"/>
          </a:xfrm>
          <a:prstGeom prst="roundRect">
            <a:avLst>
              <a:gd name="adj" fmla="val 7568"/>
            </a:avLst>
          </a:prstGeom>
          <a:solidFill>
            <a:srgbClr val="FFFFFF"/>
          </a:solidFill>
          <a:ln/>
          <a:effectLst>
            <a:outerShdw sx="100000" sy="100000" kx="0" ky="0" algn="bl" rotWithShape="0" blurRad="152400" dist="38100" dir="5400000">
              <a:srgbClr val="3A2A1C">
                <a:alpha val="10000"/>
              </a:srgbClr>
            </a:outerShdw>
          </a:effectLst>
        </p:spPr>
      </p:sp>
      <p:sp>
        <p:nvSpPr>
          <p:cNvPr id="17" name="Shape 15"/>
          <p:cNvSpPr/>
          <p:nvPr/>
        </p:nvSpPr>
        <p:spPr>
          <a:xfrm>
            <a:off x="1069848" y="4160520"/>
            <a:ext cx="548640" cy="548640"/>
          </a:xfrm>
          <a:prstGeom prst="ellipse">
            <a:avLst/>
          </a:prstGeom>
          <a:solidFill>
            <a:srgbClr val="40916C"/>
          </a:solidFill>
          <a:ln/>
        </p:spPr>
      </p:sp>
      <p:sp>
        <p:nvSpPr>
          <p:cNvPr id="18" name="Text 16"/>
          <p:cNvSpPr txBox="1"/>
          <p:nvPr/>
        </p:nvSpPr>
        <p:spPr>
          <a:xfrm>
            <a:off x="1069848" y="4160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7"/>
          <p:cNvSpPr txBox="1"/>
          <p:nvPr/>
        </p:nvSpPr>
        <p:spPr>
          <a:xfrm>
            <a:off x="1764792" y="4105656"/>
            <a:ext cx="3840480" cy="292608"/>
          </a:xfrm>
          <a:prstGeom prst="rect">
            <a:avLst/>
          </a:prstGeom>
          <a:noFill/>
          <a:ln/>
        </p:spPr>
        <p:txBody>
          <a:bodyPr wrap="square" lIns="0" tIns="0" rIns="0" bIns="0" rtlCol="0" anchor="ctr"/>
          <a:lstStyle/>
          <a:p>
            <a:pPr indent="0" marL="0">
              <a:buNone/>
            </a:pPr>
            <a:r>
              <a:rPr lang="en-US" sz="1550" b="1" dirty="0">
                <a:solidFill>
                  <a:srgbClr val="1B4332"/>
                </a:solidFill>
                <a:latin typeface="Cambria" pitchFamily="34" charset="0"/>
                <a:ea typeface="Cambria" pitchFamily="34" charset="-122"/>
                <a:cs typeface="Cambria" pitchFamily="34" charset="-120"/>
              </a:rPr>
              <a:t>Rain inside the window</a:t>
            </a:r>
            <a:endParaRPr lang="en-US" sz="1550" dirty="0"/>
          </a:p>
        </p:txBody>
      </p:sp>
      <p:sp>
        <p:nvSpPr>
          <p:cNvPr id="20" name="Text 18"/>
          <p:cNvSpPr txBox="1"/>
          <p:nvPr/>
        </p:nvSpPr>
        <p:spPr>
          <a:xfrm>
            <a:off x="1764792" y="4453128"/>
            <a:ext cx="3840480" cy="4572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Ten millimetres is roughly ten litres per square metre — free irrigation.</a:t>
            </a:r>
            <a:endParaRPr lang="en-US" sz="1150" dirty="0"/>
          </a:p>
        </p:txBody>
      </p:sp>
      <p:sp>
        <p:nvSpPr>
          <p:cNvPr id="21" name="Text 19"/>
          <p:cNvSpPr txBox="1"/>
          <p:nvPr/>
        </p:nvSpPr>
        <p:spPr>
          <a:xfrm>
            <a:off x="1764792" y="4946904"/>
            <a:ext cx="3840480" cy="502920"/>
          </a:xfrm>
          <a:prstGeom prst="rect">
            <a:avLst/>
          </a:prstGeom>
          <a:noFill/>
          <a:ln/>
        </p:spPr>
        <p:txBody>
          <a:bodyPr wrap="square" lIns="0" tIns="0" rIns="0" bIns="0" rtlCol="0" anchor="ctr"/>
          <a:lstStyle/>
          <a:p>
            <a:pPr indent="0" marL="0">
              <a:lnSpc>
                <a:spcPts val="1600"/>
              </a:lnSpc>
              <a:buNone/>
            </a:pPr>
            <a:r>
              <a:rPr lang="en-US" sz="1150" b="1" dirty="0">
                <a:solidFill>
                  <a:srgbClr val="40916C"/>
                </a:solidFill>
                <a:latin typeface="Calibri" pitchFamily="34" charset="0"/>
                <a:ea typeface="Calibri" pitchFamily="34" charset="-122"/>
                <a:cs typeface="Calibri" pitchFamily="34" charset="-120"/>
              </a:rPr>
              <a:t>→ One button pushes the schedule past the rain and counts the litres saved.</a:t>
            </a:r>
            <a:endParaRPr lang="en-US" sz="1150" dirty="0"/>
          </a:p>
        </p:txBody>
      </p:sp>
      <p:sp>
        <p:nvSpPr>
          <p:cNvPr id="22" name="Shape 20"/>
          <p:cNvSpPr/>
          <p:nvPr/>
        </p:nvSpPr>
        <p:spPr>
          <a:xfrm>
            <a:off x="6263640" y="3886200"/>
            <a:ext cx="5074920" cy="1691640"/>
          </a:xfrm>
          <a:prstGeom prst="roundRect">
            <a:avLst>
              <a:gd name="adj" fmla="val 7568"/>
            </a:avLst>
          </a:prstGeom>
          <a:solidFill>
            <a:srgbClr val="FFFFFF"/>
          </a:solidFill>
          <a:ln/>
          <a:effectLst>
            <a:outerShdw sx="100000" sy="100000" kx="0" ky="0" algn="bl" rotWithShape="0" blurRad="152400" dist="38100" dir="5400000">
              <a:srgbClr val="3A2A1C">
                <a:alpha val="10000"/>
              </a:srgbClr>
            </a:outerShdw>
          </a:effectLst>
        </p:spPr>
      </p:sp>
      <p:sp>
        <p:nvSpPr>
          <p:cNvPr id="23" name="Shape 21"/>
          <p:cNvSpPr/>
          <p:nvPr/>
        </p:nvSpPr>
        <p:spPr>
          <a:xfrm>
            <a:off x="6556248" y="4160520"/>
            <a:ext cx="548640" cy="548640"/>
          </a:xfrm>
          <a:prstGeom prst="ellipse">
            <a:avLst/>
          </a:prstGeom>
          <a:solidFill>
            <a:srgbClr val="7C9A5E"/>
          </a:solidFill>
          <a:ln/>
        </p:spPr>
      </p:sp>
      <p:sp>
        <p:nvSpPr>
          <p:cNvPr id="24" name="Text 22"/>
          <p:cNvSpPr txBox="1"/>
          <p:nvPr/>
        </p:nvSpPr>
        <p:spPr>
          <a:xfrm>
            <a:off x="6556248" y="4160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5" name="Text 23"/>
          <p:cNvSpPr txBox="1"/>
          <p:nvPr/>
        </p:nvSpPr>
        <p:spPr>
          <a:xfrm>
            <a:off x="7251192" y="4105656"/>
            <a:ext cx="3840480" cy="292608"/>
          </a:xfrm>
          <a:prstGeom prst="rect">
            <a:avLst/>
          </a:prstGeom>
          <a:noFill/>
          <a:ln/>
        </p:spPr>
        <p:txBody>
          <a:bodyPr wrap="square" lIns="0" tIns="0" rIns="0" bIns="0" rtlCol="0" anchor="ctr"/>
          <a:lstStyle/>
          <a:p>
            <a:pPr indent="0" marL="0">
              <a:buNone/>
            </a:pPr>
            <a:r>
              <a:rPr lang="en-US" sz="1550" b="1" dirty="0">
                <a:solidFill>
                  <a:srgbClr val="1B4332"/>
                </a:solidFill>
                <a:latin typeface="Cambria" pitchFamily="34" charset="0"/>
                <a:ea typeface="Cambria" pitchFamily="34" charset="-122"/>
                <a:cs typeface="Cambria" pitchFamily="34" charset="-120"/>
              </a:rPr>
              <a:t>Humidity above 70%</a:t>
            </a:r>
            <a:endParaRPr lang="en-US" sz="1550" dirty="0"/>
          </a:p>
        </p:txBody>
      </p:sp>
      <p:sp>
        <p:nvSpPr>
          <p:cNvPr id="26" name="Text 24"/>
          <p:cNvSpPr txBox="1"/>
          <p:nvPr/>
        </p:nvSpPr>
        <p:spPr>
          <a:xfrm>
            <a:off x="7251192" y="4453128"/>
            <a:ext cx="3840480" cy="457200"/>
          </a:xfrm>
          <a:prstGeom prst="rect">
            <a:avLst/>
          </a:prstGeom>
          <a:noFill/>
          <a:ln/>
        </p:spPr>
        <p:txBody>
          <a:bodyPr wrap="square" lIns="0" tIns="0" rIns="0" bIns="0" rtlCol="0" anchor="ctr"/>
          <a:lstStyle/>
          <a:p>
            <a:pPr indent="0" marL="0">
              <a:lnSpc>
                <a:spcPts val="1600"/>
              </a:lnSpc>
              <a:buNone/>
            </a:pPr>
            <a:r>
              <a:rPr lang="en-US" sz="1150" dirty="0">
                <a:solidFill>
                  <a:srgbClr val="5A5248"/>
                </a:solidFill>
                <a:latin typeface="Calibri" pitchFamily="34" charset="0"/>
                <a:ea typeface="Calibri" pitchFamily="34" charset="-122"/>
                <a:cs typeface="Calibri" pitchFamily="34" charset="-120"/>
              </a:rPr>
              <a:t>Anthracnose on mango, sigatoka on banana, powdery mildew everywhere.</a:t>
            </a:r>
            <a:endParaRPr lang="en-US" sz="1150" dirty="0"/>
          </a:p>
        </p:txBody>
      </p:sp>
      <p:sp>
        <p:nvSpPr>
          <p:cNvPr id="27" name="Text 25"/>
          <p:cNvSpPr txBox="1"/>
          <p:nvPr/>
        </p:nvSpPr>
        <p:spPr>
          <a:xfrm>
            <a:off x="7251192" y="4946904"/>
            <a:ext cx="3840480" cy="502920"/>
          </a:xfrm>
          <a:prstGeom prst="rect">
            <a:avLst/>
          </a:prstGeom>
          <a:noFill/>
          <a:ln/>
        </p:spPr>
        <p:txBody>
          <a:bodyPr wrap="square" lIns="0" tIns="0" rIns="0" bIns="0" rtlCol="0" anchor="ctr"/>
          <a:lstStyle/>
          <a:p>
            <a:pPr indent="0" marL="0">
              <a:lnSpc>
                <a:spcPts val="1600"/>
              </a:lnSpc>
              <a:buNone/>
            </a:pPr>
            <a:r>
              <a:rPr lang="en-US" sz="1150" b="1" dirty="0">
                <a:solidFill>
                  <a:srgbClr val="40916C"/>
                </a:solidFill>
                <a:latin typeface="Calibri" pitchFamily="34" charset="0"/>
                <a:ea typeface="Calibri" pitchFamily="34" charset="-122"/>
                <a:cs typeface="Calibri" pitchFamily="34" charset="-120"/>
              </a:rPr>
              <a:t>→ Open the canopy, water at the root, inspect leaf undersides twice.</a:t>
            </a:r>
            <a:endParaRPr lang="en-US" sz="1150" dirty="0"/>
          </a:p>
        </p:txBody>
      </p:sp>
      <p:sp>
        <p:nvSpPr>
          <p:cNvPr id="28" name="Shape 26"/>
          <p:cNvSpPr/>
          <p:nvPr/>
        </p:nvSpPr>
        <p:spPr>
          <a:xfrm>
            <a:off x="777240" y="5742432"/>
            <a:ext cx="10607040" cy="548640"/>
          </a:xfrm>
          <a:prstGeom prst="roundRect">
            <a:avLst>
              <a:gd name="adj" fmla="val 23333"/>
            </a:avLst>
          </a:prstGeom>
          <a:solidFill>
            <a:srgbClr val="DCE8CF"/>
          </a:solidFill>
          <a:ln/>
        </p:spPr>
      </p:sp>
      <p:sp>
        <p:nvSpPr>
          <p:cNvPr id="29" name="Text 27"/>
          <p:cNvSpPr txBox="1"/>
          <p:nvPr/>
        </p:nvSpPr>
        <p:spPr>
          <a:xfrm>
            <a:off x="1188720" y="5870448"/>
            <a:ext cx="9784080" cy="329184"/>
          </a:xfrm>
          <a:prstGeom prst="rect">
            <a:avLst/>
          </a:prstGeom>
          <a:noFill/>
          <a:ln/>
        </p:spPr>
        <p:txBody>
          <a:bodyPr wrap="square" lIns="0" tIns="0" rIns="0" bIns="0" rtlCol="0" anchor="ctr"/>
          <a:lstStyle/>
          <a:p>
            <a:pPr indent="0" marL="0">
              <a:lnSpc>
                <a:spcPts val="2100"/>
              </a:lnSpc>
              <a:buNone/>
            </a:pPr>
            <a:r>
              <a:rPr lang="en-US" sz="1250" dirty="0">
                <a:solidFill>
                  <a:srgbClr val="2F4A38"/>
                </a:solidFill>
                <a:latin typeface="Calibri" pitchFamily="34" charset="0"/>
                <a:ea typeface="Calibri" pitchFamily="34" charset="-122"/>
                <a:cs typeface="Calibri" pitchFamily="34" charset="-120"/>
              </a:rPr>
              <a:t>Water saved by skipping an unnecessary irrigation is counted at the point where the decision is made — per plant, per plot, in litres.</a:t>
            </a:r>
            <a:endParaRPr lang="en-US" sz="1250" dirty="0"/>
          </a:p>
        </p:txBody>
      </p:sp>
      <p:sp>
        <p:nvSpPr>
          <p:cNvPr id="30" name="Text 28"/>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31" name="Text 29"/>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LAYER THREE · THE REGION</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The knowledge is already here</a:t>
            </a:r>
            <a:endParaRPr lang="en-US" sz="3800" dirty="0"/>
          </a:p>
        </p:txBody>
      </p:sp>
      <p:sp>
        <p:nvSpPr>
          <p:cNvPr id="4" name="Shape 2"/>
          <p:cNvSpPr/>
          <p:nvPr/>
        </p:nvSpPr>
        <p:spPr>
          <a:xfrm>
            <a:off x="777240" y="2057400"/>
            <a:ext cx="5074920" cy="3154680"/>
          </a:xfrm>
          <a:prstGeom prst="roundRect">
            <a:avLst>
              <a:gd name="adj" fmla="val 4058"/>
            </a:avLst>
          </a:prstGeom>
          <a:solidFill>
            <a:srgbClr val="FFFFFF"/>
          </a:solidFill>
          <a:ln/>
          <a:effectLst>
            <a:outerShdw sx="100000" sy="100000" kx="0" ky="0" algn="bl" rotWithShape="0" blurRad="152400" dist="38100" dir="5400000">
              <a:srgbClr val="3A2A1C">
                <a:alpha val="10000"/>
              </a:srgbClr>
            </a:outerShdw>
          </a:effectLst>
        </p:spPr>
      </p:sp>
      <p:sp>
        <p:nvSpPr>
          <p:cNvPr id="5" name="Shape 3"/>
          <p:cNvSpPr/>
          <p:nvPr/>
        </p:nvSpPr>
        <p:spPr>
          <a:xfrm>
            <a:off x="1143000" y="2377440"/>
            <a:ext cx="603504" cy="603504"/>
          </a:xfrm>
          <a:prstGeom prst="ellipse">
            <a:avLst/>
          </a:prstGeom>
          <a:solidFill>
            <a:srgbClr val="1B4332"/>
          </a:solidFill>
          <a:ln/>
        </p:spPr>
      </p:sp>
      <p:sp>
        <p:nvSpPr>
          <p:cNvPr id="6" name="Text 4"/>
          <p:cNvSpPr txBox="1"/>
          <p:nvPr/>
        </p:nvSpPr>
        <p:spPr>
          <a:xfrm>
            <a:off x="1143000" y="237744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1874520" y="2468880"/>
            <a:ext cx="3657600" cy="36576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Farmers' forum</a:t>
            </a:r>
            <a:endParaRPr lang="en-US" sz="1800" dirty="0"/>
          </a:p>
        </p:txBody>
      </p:sp>
      <p:sp>
        <p:nvSpPr>
          <p:cNvPr id="8" name="Text 6"/>
          <p:cNvSpPr txBox="1"/>
          <p:nvPr/>
        </p:nvSpPr>
        <p:spPr>
          <a:xfrm>
            <a:off x="1161288" y="3127248"/>
            <a:ext cx="4480560" cy="182880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Text, photograph, or a recorded voice note</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Voice is not decoration — a tool that requires typing quietly excludes the growers who know the most</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Tagged, searchable, with replies</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A camera diagnosis can be pushed straight into a draft post with the photo attached</a:t>
            </a:r>
            <a:endParaRPr lang="en-US" sz="1350" dirty="0"/>
          </a:p>
        </p:txBody>
      </p:sp>
      <p:sp>
        <p:nvSpPr>
          <p:cNvPr id="9" name="Shape 7"/>
          <p:cNvSpPr/>
          <p:nvPr/>
        </p:nvSpPr>
        <p:spPr>
          <a:xfrm>
            <a:off x="6309360" y="2057400"/>
            <a:ext cx="5074920" cy="3154680"/>
          </a:xfrm>
          <a:prstGeom prst="roundRect">
            <a:avLst>
              <a:gd name="adj" fmla="val 4058"/>
            </a:avLst>
          </a:prstGeom>
          <a:solidFill>
            <a:srgbClr val="FFFFFF"/>
          </a:solidFill>
          <a:ln/>
          <a:effectLst>
            <a:outerShdw sx="100000" sy="100000" kx="0" ky="0" algn="bl" rotWithShape="0" blurRad="152400" dist="38100" dir="5400000">
              <a:srgbClr val="3A2A1C">
                <a:alpha val="10000"/>
              </a:srgbClr>
            </a:outerShdw>
          </a:effectLst>
        </p:spPr>
      </p:sp>
      <p:sp>
        <p:nvSpPr>
          <p:cNvPr id="10" name="Shape 8"/>
          <p:cNvSpPr/>
          <p:nvPr/>
        </p:nvSpPr>
        <p:spPr>
          <a:xfrm>
            <a:off x="6675120" y="2377440"/>
            <a:ext cx="603504" cy="603504"/>
          </a:xfrm>
          <a:prstGeom prst="ellipse">
            <a:avLst/>
          </a:prstGeom>
          <a:solidFill>
            <a:srgbClr val="B5825C"/>
          </a:solidFill>
          <a:ln/>
        </p:spPr>
      </p:sp>
      <p:sp>
        <p:nvSpPr>
          <p:cNvPr id="11" name="Text 9"/>
          <p:cNvSpPr txBox="1"/>
          <p:nvPr/>
        </p:nvSpPr>
        <p:spPr>
          <a:xfrm>
            <a:off x="6675120" y="237744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7406640" y="2468880"/>
            <a:ext cx="3657600" cy="36576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Local market</a:t>
            </a:r>
            <a:endParaRPr lang="en-US" sz="1800" dirty="0"/>
          </a:p>
        </p:txBody>
      </p:sp>
      <p:sp>
        <p:nvSpPr>
          <p:cNvPr id="13" name="Text 11"/>
          <p:cNvSpPr txBox="1"/>
          <p:nvPr/>
        </p:nvSpPr>
        <p:spPr>
          <a:xfrm>
            <a:off x="6693408" y="3127248"/>
            <a:ext cx="4480560" cy="1828800"/>
          </a:xfrm>
          <a:prstGeom prst="rect">
            <a:avLst/>
          </a:prstGeom>
          <a:noFill/>
          <a:ln/>
        </p:spPr>
        <p:txBody>
          <a:bodyPr wrap="square" lIns="0" tIns="0" rIns="0" bIns="0" rtlCol="0" anchor="ctr"/>
          <a:lstStyle/>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Seed, seedlings, plants, inputs and farm services, priced in riyals</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Filtered by category and searchable</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Any account can publish a listing</a:t>
            </a:r>
            <a:endParaRPr lang="en-US" sz="1350" dirty="0"/>
          </a:p>
          <a:p>
            <a:pPr marL="342900" indent="-342900">
              <a:lnSpc>
                <a:spcPts val="2000"/>
              </a:lnSpc>
              <a:spcAft>
                <a:spcPts val="700"/>
              </a:spcAft>
              <a:buSzPct val="100000"/>
              <a:buChar char="•"/>
            </a:pPr>
            <a:r>
              <a:rPr lang="en-US" sz="1350" dirty="0">
                <a:solidFill>
                  <a:srgbClr val="5A5248"/>
                </a:solidFill>
                <a:latin typeface="Calibri" pitchFamily="34" charset="0"/>
                <a:ea typeface="Calibri" pitchFamily="34" charset="-122"/>
                <a:cs typeface="Calibri" pitchFamily="34" charset="-120"/>
              </a:rPr>
              <a:t>Requests carry the seller's own number — nothing is charged, no intermediary is inserted</a:t>
            </a:r>
            <a:endParaRPr lang="en-US" sz="1350" dirty="0"/>
          </a:p>
        </p:txBody>
      </p:sp>
      <p:pic>
        <p:nvPicPr>
          <p:cNvPr id="14" name="Image 0" descr="/home/claude/deck/assets/coffee-healthy.png">    </p:cNvPr>
          <p:cNvPicPr>
            <a:picLocks noChangeAspect="1"/>
          </p:cNvPicPr>
          <p:nvPr/>
        </p:nvPicPr>
        <p:blipFill>
          <a:blip r:embed="rId2"/>
          <a:stretch>
            <a:fillRect/>
          </a:stretch>
        </p:blipFill>
        <p:spPr>
          <a:xfrm>
            <a:off x="5440680" y="5230368"/>
            <a:ext cx="1298448" cy="1444752"/>
          </a:xfrm>
          <a:prstGeom prst="rect">
            <a:avLst/>
          </a:prstGeom>
        </p:spPr>
      </p:pic>
      <p:sp>
        <p:nvSpPr>
          <p:cNvPr id="15" name="Text 12"/>
          <p:cNvSpPr txBox="1"/>
          <p:nvPr/>
        </p:nvSpPr>
        <p:spPr>
          <a:xfrm>
            <a:off x="777240" y="5532120"/>
            <a:ext cx="4297680" cy="822960"/>
          </a:xfrm>
          <a:prstGeom prst="rect">
            <a:avLst/>
          </a:prstGeom>
          <a:noFill/>
          <a:ln/>
        </p:spPr>
        <p:txBody>
          <a:bodyPr wrap="square" lIns="0" tIns="0" rIns="0" bIns="0" rtlCol="0" anchor="ctr"/>
          <a:lstStyle/>
          <a:p>
            <a:pPr indent="0" marL="0">
              <a:lnSpc>
                <a:spcPts val="1700"/>
              </a:lnSpc>
              <a:buNone/>
            </a:pPr>
            <a:r>
              <a:rPr lang="en-US" sz="1200" i="1" dirty="0">
                <a:solidFill>
                  <a:srgbClr val="8B8073"/>
                </a:solidFill>
                <a:latin typeface="Calibri" pitchFamily="34" charset="0"/>
                <a:ea typeface="Calibri" pitchFamily="34" charset="-122"/>
                <a:cs typeface="Calibri" pitchFamily="34" charset="-120"/>
              </a:rPr>
              <a:t>Khawlani coffee — a cultivation practice inscribed by UNESCO in 2022, and the crop the highland side of this tool exists to support.</a:t>
            </a:r>
            <a:endParaRPr lang="en-US" sz="1200" dirty="0"/>
          </a:p>
        </p:txBody>
      </p:sp>
      <p:sp>
        <p:nvSpPr>
          <p:cNvPr id="16" name="Text 13"/>
          <p:cNvSpPr txBox="1"/>
          <p:nvPr/>
        </p:nvSpPr>
        <p:spPr>
          <a:xfrm>
            <a:off x="7040880" y="5532120"/>
            <a:ext cx="4343400" cy="822960"/>
          </a:xfrm>
          <a:prstGeom prst="rect">
            <a:avLst/>
          </a:prstGeom>
          <a:noFill/>
          <a:ln/>
        </p:spPr>
        <p:txBody>
          <a:bodyPr wrap="square" lIns="0" tIns="0" rIns="0" bIns="0" rtlCol="0" anchor="ctr"/>
          <a:lstStyle/>
          <a:p>
            <a:pPr indent="0" marL="0">
              <a:lnSpc>
                <a:spcPts val="1700"/>
              </a:lnSpc>
              <a:buNone/>
            </a:pPr>
            <a:r>
              <a:rPr lang="en-US" sz="1200" i="1" dirty="0">
                <a:solidFill>
                  <a:srgbClr val="8B8073"/>
                </a:solidFill>
                <a:latin typeface="Calibri" pitchFamily="34" charset="0"/>
                <a:ea typeface="Calibri" pitchFamily="34" charset="-122"/>
                <a:cs typeface="Calibri" pitchFamily="34" charset="-120"/>
              </a:rPr>
              <a:t>Every listing, post and voice note is knowledge the region already holds. The application's job is to keep it, not to replace it.</a:t>
            </a:r>
            <a:endParaRPr lang="en-US" sz="1200" dirty="0"/>
          </a:p>
        </p:txBody>
      </p:sp>
      <p:sp>
        <p:nvSpPr>
          <p:cNvPr id="17" name="Text 14"/>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18" name="Text 15"/>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40916C"/>
                </a:solidFill>
                <a:latin typeface="Calibri" pitchFamily="34" charset="0"/>
                <a:ea typeface="Calibri" pitchFamily="34" charset="-122"/>
                <a:cs typeface="Calibri" pitchFamily="34" charset="-120"/>
              </a:rPr>
              <a:t>VALUE ADDED</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800" b="1" dirty="0">
                <a:solidFill>
                  <a:srgbClr val="1B4332"/>
                </a:solidFill>
                <a:latin typeface="Cambria" pitchFamily="34" charset="0"/>
                <a:ea typeface="Cambria" pitchFamily="34" charset="-122"/>
                <a:cs typeface="Cambria" pitchFamily="34" charset="-120"/>
              </a:rPr>
              <a:t>What changes if this is on the farm</a:t>
            </a:r>
            <a:endParaRPr lang="en-US" sz="3800" dirty="0"/>
          </a:p>
        </p:txBody>
      </p:sp>
      <p:sp>
        <p:nvSpPr>
          <p:cNvPr id="4" name="Shape 2"/>
          <p:cNvSpPr/>
          <p:nvPr/>
        </p:nvSpPr>
        <p:spPr>
          <a:xfrm>
            <a:off x="777240" y="1965960"/>
            <a:ext cx="3291840" cy="3749040"/>
          </a:xfrm>
          <a:prstGeom prst="roundRect">
            <a:avLst>
              <a:gd name="adj" fmla="val 3889"/>
            </a:avLst>
          </a:prstGeom>
          <a:solidFill>
            <a:srgbClr val="FFFFFF"/>
          </a:solidFill>
          <a:ln/>
          <a:effectLst>
            <a:outerShdw sx="100000" sy="100000" kx="0" ky="0" algn="bl" rotWithShape="0" blurRad="152400" dist="38100" dir="5400000">
              <a:srgbClr val="3A2A1C">
                <a:alpha val="10000"/>
              </a:srgbClr>
            </a:outerShdw>
          </a:effectLst>
        </p:spPr>
      </p:sp>
      <p:sp>
        <p:nvSpPr>
          <p:cNvPr id="5" name="Shape 3"/>
          <p:cNvSpPr/>
          <p:nvPr/>
        </p:nvSpPr>
        <p:spPr>
          <a:xfrm>
            <a:off x="1051560" y="2240280"/>
            <a:ext cx="310896" cy="310896"/>
          </a:xfrm>
          <a:prstGeom prst="ellipse">
            <a:avLst/>
          </a:prstGeom>
          <a:solidFill>
            <a:srgbClr val="40916C"/>
          </a:solidFill>
          <a:ln/>
        </p:spPr>
      </p:sp>
      <p:sp>
        <p:nvSpPr>
          <p:cNvPr id="6" name="Text 4"/>
          <p:cNvSpPr txBox="1"/>
          <p:nvPr/>
        </p:nvSpPr>
        <p:spPr>
          <a:xfrm>
            <a:off x="1051560" y="2670048"/>
            <a:ext cx="2743200" cy="329184"/>
          </a:xfrm>
          <a:prstGeom prst="rect">
            <a:avLst/>
          </a:prstGeom>
          <a:noFill/>
          <a:ln/>
        </p:spPr>
        <p:txBody>
          <a:bodyPr wrap="square" lIns="0" tIns="0" rIns="0" bIns="0" rtlCol="0" anchor="ctr"/>
          <a:lstStyle/>
          <a:p>
            <a:pPr indent="0" marL="0">
              <a:buNone/>
            </a:pPr>
            <a:r>
              <a:rPr lang="en-US" sz="1700" b="1" dirty="0">
                <a:solidFill>
                  <a:srgbClr val="1B4332"/>
                </a:solidFill>
                <a:latin typeface="Cambria" pitchFamily="34" charset="0"/>
                <a:ea typeface="Cambria" pitchFamily="34" charset="-122"/>
                <a:cs typeface="Cambria" pitchFamily="34" charset="-120"/>
              </a:rPr>
              <a:t>For the farmer</a:t>
            </a:r>
            <a:endParaRPr lang="en-US" sz="1700" dirty="0"/>
          </a:p>
        </p:txBody>
      </p:sp>
      <p:sp>
        <p:nvSpPr>
          <p:cNvPr id="7" name="Text 5"/>
          <p:cNvSpPr txBox="1"/>
          <p:nvPr/>
        </p:nvSpPr>
        <p:spPr>
          <a:xfrm>
            <a:off x="1051560" y="3108960"/>
            <a:ext cx="2788920" cy="23774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A wrong decision costs a simulated season, not a real one</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Irrigation stops depending on memory — where most avoidable loss begins</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A plant problem gets a first answer in seconds, at any hour</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Weather becomes an instruction rather than a number</a:t>
            </a:r>
            <a:endParaRPr lang="en-US" sz="1200" dirty="0"/>
          </a:p>
        </p:txBody>
      </p:sp>
      <p:sp>
        <p:nvSpPr>
          <p:cNvPr id="8" name="Shape 6"/>
          <p:cNvSpPr/>
          <p:nvPr/>
        </p:nvSpPr>
        <p:spPr>
          <a:xfrm>
            <a:off x="4389120" y="1965960"/>
            <a:ext cx="3291840" cy="3749040"/>
          </a:xfrm>
          <a:prstGeom prst="roundRect">
            <a:avLst>
              <a:gd name="adj" fmla="val 3889"/>
            </a:avLst>
          </a:prstGeom>
          <a:solidFill>
            <a:srgbClr val="FFFFFF"/>
          </a:solidFill>
          <a:ln/>
          <a:effectLst>
            <a:outerShdw sx="100000" sy="100000" kx="0" ky="0" algn="bl" rotWithShape="0" blurRad="152400" dist="38100" dir="5400000">
              <a:srgbClr val="3A2A1C">
                <a:alpha val="10000"/>
              </a:srgbClr>
            </a:outerShdw>
          </a:effectLst>
        </p:spPr>
      </p:sp>
      <p:sp>
        <p:nvSpPr>
          <p:cNvPr id="9" name="Shape 7"/>
          <p:cNvSpPr/>
          <p:nvPr/>
        </p:nvSpPr>
        <p:spPr>
          <a:xfrm>
            <a:off x="4663440" y="2240280"/>
            <a:ext cx="310896" cy="310896"/>
          </a:xfrm>
          <a:prstGeom prst="ellipse">
            <a:avLst/>
          </a:prstGeom>
          <a:solidFill>
            <a:srgbClr val="D9A63F"/>
          </a:solidFill>
          <a:ln/>
        </p:spPr>
      </p:sp>
      <p:sp>
        <p:nvSpPr>
          <p:cNvPr id="10" name="Text 8"/>
          <p:cNvSpPr txBox="1"/>
          <p:nvPr/>
        </p:nvSpPr>
        <p:spPr>
          <a:xfrm>
            <a:off x="4663440" y="2670048"/>
            <a:ext cx="2743200" cy="329184"/>
          </a:xfrm>
          <a:prstGeom prst="rect">
            <a:avLst/>
          </a:prstGeom>
          <a:noFill/>
          <a:ln/>
        </p:spPr>
        <p:txBody>
          <a:bodyPr wrap="square" lIns="0" tIns="0" rIns="0" bIns="0" rtlCol="0" anchor="ctr"/>
          <a:lstStyle/>
          <a:p>
            <a:pPr indent="0" marL="0">
              <a:buNone/>
            </a:pPr>
            <a:r>
              <a:rPr lang="en-US" sz="1700" b="1" dirty="0">
                <a:solidFill>
                  <a:srgbClr val="1B4332"/>
                </a:solidFill>
                <a:latin typeface="Cambria" pitchFamily="34" charset="0"/>
                <a:ea typeface="Cambria" pitchFamily="34" charset="-122"/>
                <a:cs typeface="Cambria" pitchFamily="34" charset="-120"/>
              </a:rPr>
              <a:t>For the sector</a:t>
            </a:r>
            <a:endParaRPr lang="en-US" sz="1700" dirty="0"/>
          </a:p>
        </p:txBody>
      </p:sp>
      <p:sp>
        <p:nvSpPr>
          <p:cNvPr id="11" name="Text 9"/>
          <p:cNvSpPr txBox="1"/>
          <p:nvPr/>
        </p:nvSpPr>
        <p:spPr>
          <a:xfrm>
            <a:off x="4663440" y="3108960"/>
            <a:ext cx="2788920" cy="23774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Readiness measured per holding, not estimated per region</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Water saved counted where the decision is taken</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The record a farm builds by using the tool is the dataset a trained model will need</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Highland coffee gets support that knows it is not a coastal crop</a:t>
            </a:r>
            <a:endParaRPr lang="en-US" sz="1200" dirty="0"/>
          </a:p>
        </p:txBody>
      </p:sp>
      <p:sp>
        <p:nvSpPr>
          <p:cNvPr id="12" name="Shape 10"/>
          <p:cNvSpPr/>
          <p:nvPr/>
        </p:nvSpPr>
        <p:spPr>
          <a:xfrm>
            <a:off x="8001000" y="1965960"/>
            <a:ext cx="3291840" cy="3749040"/>
          </a:xfrm>
          <a:prstGeom prst="roundRect">
            <a:avLst>
              <a:gd name="adj" fmla="val 3889"/>
            </a:avLst>
          </a:prstGeom>
          <a:solidFill>
            <a:srgbClr val="FFFFFF"/>
          </a:solidFill>
          <a:ln/>
          <a:effectLst>
            <a:outerShdw sx="100000" sy="100000" kx="0" ky="0" algn="bl" rotWithShape="0" blurRad="152400" dist="38100" dir="5400000">
              <a:srgbClr val="3A2A1C">
                <a:alpha val="10000"/>
              </a:srgbClr>
            </a:outerShdw>
          </a:effectLst>
        </p:spPr>
      </p:sp>
      <p:sp>
        <p:nvSpPr>
          <p:cNvPr id="13" name="Shape 11"/>
          <p:cNvSpPr/>
          <p:nvPr/>
        </p:nvSpPr>
        <p:spPr>
          <a:xfrm>
            <a:off x="8275320" y="2240280"/>
            <a:ext cx="310896" cy="310896"/>
          </a:xfrm>
          <a:prstGeom prst="ellipse">
            <a:avLst/>
          </a:prstGeom>
          <a:solidFill>
            <a:srgbClr val="1B4332"/>
          </a:solidFill>
          <a:ln/>
        </p:spPr>
      </p:sp>
      <p:sp>
        <p:nvSpPr>
          <p:cNvPr id="14" name="Text 12"/>
          <p:cNvSpPr txBox="1"/>
          <p:nvPr/>
        </p:nvSpPr>
        <p:spPr>
          <a:xfrm>
            <a:off x="8275320" y="2670048"/>
            <a:ext cx="2743200" cy="329184"/>
          </a:xfrm>
          <a:prstGeom prst="rect">
            <a:avLst/>
          </a:prstGeom>
          <a:noFill/>
          <a:ln/>
        </p:spPr>
        <p:txBody>
          <a:bodyPr wrap="square" lIns="0" tIns="0" rIns="0" bIns="0" rtlCol="0" anchor="ctr"/>
          <a:lstStyle/>
          <a:p>
            <a:pPr indent="0" marL="0">
              <a:buNone/>
            </a:pPr>
            <a:r>
              <a:rPr lang="en-US" sz="1700" b="1" dirty="0">
                <a:solidFill>
                  <a:srgbClr val="1B4332"/>
                </a:solidFill>
                <a:latin typeface="Cambria" pitchFamily="34" charset="0"/>
                <a:ea typeface="Cambria" pitchFamily="34" charset="-122"/>
                <a:cs typeface="Cambria" pitchFamily="34" charset="-120"/>
              </a:rPr>
              <a:t>For the Kingdom</a:t>
            </a:r>
            <a:endParaRPr lang="en-US" sz="1700" dirty="0"/>
          </a:p>
        </p:txBody>
      </p:sp>
      <p:sp>
        <p:nvSpPr>
          <p:cNvPr id="15" name="Text 13"/>
          <p:cNvSpPr txBox="1"/>
          <p:nvPr/>
        </p:nvSpPr>
        <p:spPr>
          <a:xfrm>
            <a:off x="8275320" y="3108960"/>
            <a:ext cx="2788920" cy="23774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Vision 2030 food-security and water-efficiency goals</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SDAIA's staged, sector-by-sector approach to AI adoption</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PDPL consent and data-handling practice built into the rubric</a:t>
            </a:r>
            <a:endParaRPr lang="en-US" sz="1200" dirty="0"/>
          </a:p>
          <a:p>
            <a:pPr marL="342900" indent="-342900">
              <a:lnSpc>
                <a:spcPts val="1700"/>
              </a:lnSpc>
              <a:spcAft>
                <a:spcPts val="700"/>
              </a:spcAft>
              <a:buSzPct val="100000"/>
              <a:buChar char="•"/>
            </a:pPr>
            <a:r>
              <a:rPr lang="en-US" sz="1200" dirty="0">
                <a:solidFill>
                  <a:srgbClr val="5A5248"/>
                </a:solidFill>
                <a:latin typeface="Calibri" pitchFamily="34" charset="0"/>
                <a:ea typeface="Calibri" pitchFamily="34" charset="-122"/>
                <a:cs typeface="Calibri" pitchFamily="34" charset="-120"/>
              </a:rPr>
              <a:t>Reef programme value chains — coffee, honey, fruit, rainfed crops</a:t>
            </a:r>
            <a:endParaRPr lang="en-US" sz="1200" dirty="0"/>
          </a:p>
        </p:txBody>
      </p:sp>
      <p:sp>
        <p:nvSpPr>
          <p:cNvPr id="16" name="Text 14"/>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8B8073"/>
                </a:solidFill>
                <a:latin typeface="Calibri" pitchFamily="34" charset="0"/>
                <a:ea typeface="Calibri" pitchFamily="34" charset="-122"/>
                <a:cs typeface="Calibri" pitchFamily="34" charset="-120"/>
              </a:rPr>
              <a:t>TerraTwin · Wanas Zakri</a:t>
            </a:r>
            <a:endParaRPr lang="en-US" sz="1000" dirty="0"/>
          </a:p>
        </p:txBody>
      </p:sp>
      <p:sp>
        <p:nvSpPr>
          <p:cNvPr id="17" name="Text 15"/>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8B80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658368"/>
            <a:ext cx="8229600" cy="256032"/>
          </a:xfrm>
          <a:prstGeom prst="rect">
            <a:avLst/>
          </a:prstGeom>
          <a:noFill/>
          <a:ln/>
        </p:spPr>
        <p:txBody>
          <a:bodyPr wrap="square" lIns="0" tIns="0" rIns="0" bIns="0" rtlCol="0" anchor="ctr"/>
          <a:lstStyle/>
          <a:p>
            <a:pPr indent="0" marL="0">
              <a:buNone/>
            </a:pPr>
            <a:r>
              <a:rPr lang="en-US" sz="1100" b="1" spc="260" kern="0" dirty="0">
                <a:solidFill>
                  <a:srgbClr val="A8BF92"/>
                </a:solidFill>
                <a:latin typeface="Calibri" pitchFamily="34" charset="0"/>
                <a:ea typeface="Calibri" pitchFamily="34" charset="-122"/>
                <a:cs typeface="Calibri" pitchFamily="34" charset="-120"/>
              </a:rPr>
              <a:t>POLICY GAPS IDENTIFIED</a:t>
            </a:r>
            <a:endParaRPr lang="en-US" sz="1100" dirty="0"/>
          </a:p>
        </p:txBody>
      </p:sp>
      <p:sp>
        <p:nvSpPr>
          <p:cNvPr id="3" name="Text 1"/>
          <p:cNvSpPr txBox="1"/>
          <p:nvPr/>
        </p:nvSpPr>
        <p:spPr>
          <a:xfrm>
            <a:off x="777240" y="987552"/>
            <a:ext cx="10424160" cy="8686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Four gaps a feature cannot close</a:t>
            </a:r>
            <a:endParaRPr lang="en-US" sz="3600" dirty="0"/>
          </a:p>
        </p:txBody>
      </p:sp>
      <p:sp>
        <p:nvSpPr>
          <p:cNvPr id="4" name="Shape 2"/>
          <p:cNvSpPr/>
          <p:nvPr/>
        </p:nvSpPr>
        <p:spPr>
          <a:xfrm>
            <a:off x="777240" y="2148840"/>
            <a:ext cx="5074920" cy="1645920"/>
          </a:xfrm>
          <a:prstGeom prst="roundRect">
            <a:avLst>
              <a:gd name="adj" fmla="val 6667"/>
            </a:avLst>
          </a:prstGeom>
          <a:solidFill>
            <a:srgbClr val="20553C"/>
          </a:solidFill>
          <a:ln/>
        </p:spPr>
      </p:sp>
      <p:sp>
        <p:nvSpPr>
          <p:cNvPr id="5" name="Text 3"/>
          <p:cNvSpPr txBox="1"/>
          <p:nvPr/>
        </p:nvSpPr>
        <p:spPr>
          <a:xfrm>
            <a:off x="1069848" y="2350008"/>
            <a:ext cx="640080" cy="365760"/>
          </a:xfrm>
          <a:prstGeom prst="rect">
            <a:avLst/>
          </a:prstGeom>
          <a:noFill/>
          <a:ln/>
        </p:spPr>
        <p:txBody>
          <a:bodyPr wrap="square" lIns="0" tIns="0" rIns="0" bIns="0" rtlCol="0" anchor="ctr"/>
          <a:lstStyle/>
          <a:p>
            <a:pPr indent="0" marL="0">
              <a:buNone/>
            </a:pPr>
            <a:r>
              <a:rPr lang="en-US" sz="2000" b="1" dirty="0">
                <a:solidFill>
                  <a:srgbClr val="D9A63F"/>
                </a:solidFill>
                <a:latin typeface="Cambria" pitchFamily="34" charset="0"/>
                <a:ea typeface="Cambria" pitchFamily="34" charset="-122"/>
                <a:cs typeface="Cambria" pitchFamily="34" charset="-120"/>
              </a:rPr>
              <a:t>01</a:t>
            </a:r>
            <a:endParaRPr lang="en-US" sz="2000" dirty="0"/>
          </a:p>
        </p:txBody>
      </p:sp>
      <p:sp>
        <p:nvSpPr>
          <p:cNvPr id="6" name="Text 4"/>
          <p:cNvSpPr txBox="1"/>
          <p:nvPr/>
        </p:nvSpPr>
        <p:spPr>
          <a:xfrm>
            <a:off x="1709928" y="2350008"/>
            <a:ext cx="393192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Data ownership is unsettled</a:t>
            </a:r>
            <a:endParaRPr lang="en-US" sz="1550" dirty="0"/>
          </a:p>
        </p:txBody>
      </p:sp>
      <p:sp>
        <p:nvSpPr>
          <p:cNvPr id="7" name="Text 5"/>
          <p:cNvSpPr txBox="1"/>
          <p:nvPr/>
        </p:nvSpPr>
        <p:spPr>
          <a:xfrm>
            <a:off x="1709928" y="2752344"/>
            <a:ext cx="3931920" cy="914400"/>
          </a:xfrm>
          <a:prstGeom prst="rect">
            <a:avLst/>
          </a:prstGeom>
          <a:noFill/>
          <a:ln/>
        </p:spPr>
        <p:txBody>
          <a:bodyPr wrap="square" lIns="0" tIns="0" rIns="0" bIns="0" rtlCol="0" anchor="ctr"/>
          <a:lstStyle/>
          <a:p>
            <a:pPr indent="0" marL="0">
              <a:lnSpc>
                <a:spcPts val="1600"/>
              </a:lnSpc>
              <a:buNone/>
            </a:pPr>
            <a:r>
              <a:rPr lang="en-US" sz="1150" dirty="0">
                <a:solidFill>
                  <a:srgbClr val="DCE8CF"/>
                </a:solidFill>
                <a:latin typeface="Calibri" pitchFamily="34" charset="0"/>
                <a:ea typeface="Calibri" pitchFamily="34" charset="-122"/>
                <a:cs typeface="Calibri" pitchFamily="34" charset="-120"/>
              </a:rPr>
              <a:t>When a smallholder's irrigation record trains a supplier's model, no instrument states who owns the record or what the farmer is owed. The PDPL governs personal data; agricultural operational data sits outside its clearest provisions.</a:t>
            </a:r>
            <a:endParaRPr lang="en-US" sz="1150" dirty="0"/>
          </a:p>
        </p:txBody>
      </p:sp>
      <p:sp>
        <p:nvSpPr>
          <p:cNvPr id="8" name="Shape 6"/>
          <p:cNvSpPr/>
          <p:nvPr/>
        </p:nvSpPr>
        <p:spPr>
          <a:xfrm>
            <a:off x="6263640" y="2148840"/>
            <a:ext cx="5074920" cy="1645920"/>
          </a:xfrm>
          <a:prstGeom prst="roundRect">
            <a:avLst>
              <a:gd name="adj" fmla="val 6667"/>
            </a:avLst>
          </a:prstGeom>
          <a:solidFill>
            <a:srgbClr val="20553C"/>
          </a:solidFill>
          <a:ln/>
        </p:spPr>
      </p:sp>
      <p:sp>
        <p:nvSpPr>
          <p:cNvPr id="9" name="Text 7"/>
          <p:cNvSpPr txBox="1"/>
          <p:nvPr/>
        </p:nvSpPr>
        <p:spPr>
          <a:xfrm>
            <a:off x="6556248" y="2350008"/>
            <a:ext cx="640080" cy="365760"/>
          </a:xfrm>
          <a:prstGeom prst="rect">
            <a:avLst/>
          </a:prstGeom>
          <a:noFill/>
          <a:ln/>
        </p:spPr>
        <p:txBody>
          <a:bodyPr wrap="square" lIns="0" tIns="0" rIns="0" bIns="0" rtlCol="0" anchor="ctr"/>
          <a:lstStyle/>
          <a:p>
            <a:pPr indent="0" marL="0">
              <a:buNone/>
            </a:pPr>
            <a:r>
              <a:rPr lang="en-US" sz="2000" b="1" dirty="0">
                <a:solidFill>
                  <a:srgbClr val="D9A63F"/>
                </a:solidFill>
                <a:latin typeface="Cambria" pitchFamily="34" charset="0"/>
                <a:ea typeface="Cambria" pitchFamily="34" charset="-122"/>
                <a:cs typeface="Cambria" pitchFamily="34" charset="-120"/>
              </a:rPr>
              <a:t>02</a:t>
            </a:r>
            <a:endParaRPr lang="en-US" sz="2000" dirty="0"/>
          </a:p>
        </p:txBody>
      </p:sp>
      <p:sp>
        <p:nvSpPr>
          <p:cNvPr id="10" name="Text 8"/>
          <p:cNvSpPr txBox="1"/>
          <p:nvPr/>
        </p:nvSpPr>
        <p:spPr>
          <a:xfrm>
            <a:off x="7196328" y="2350008"/>
            <a:ext cx="393192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No accreditation route for AI advice</a:t>
            </a:r>
            <a:endParaRPr lang="en-US" sz="1550" dirty="0"/>
          </a:p>
        </p:txBody>
      </p:sp>
      <p:sp>
        <p:nvSpPr>
          <p:cNvPr id="11" name="Text 9"/>
          <p:cNvSpPr txBox="1"/>
          <p:nvPr/>
        </p:nvSpPr>
        <p:spPr>
          <a:xfrm>
            <a:off x="7196328" y="2752344"/>
            <a:ext cx="3931920" cy="914400"/>
          </a:xfrm>
          <a:prstGeom prst="rect">
            <a:avLst/>
          </a:prstGeom>
          <a:noFill/>
          <a:ln/>
        </p:spPr>
        <p:txBody>
          <a:bodyPr wrap="square" lIns="0" tIns="0" rIns="0" bIns="0" rtlCol="0" anchor="ctr"/>
          <a:lstStyle/>
          <a:p>
            <a:pPr indent="0" marL="0">
              <a:lnSpc>
                <a:spcPts val="1600"/>
              </a:lnSpc>
              <a:buNone/>
            </a:pPr>
            <a:r>
              <a:rPr lang="en-US" sz="1150" dirty="0">
                <a:solidFill>
                  <a:srgbClr val="DCE8CF"/>
                </a:solidFill>
                <a:latin typeface="Calibri" pitchFamily="34" charset="0"/>
                <a:ea typeface="Calibri" pitchFamily="34" charset="-122"/>
                <a:cs typeface="Calibri" pitchFamily="34" charset="-120"/>
              </a:rPr>
              <a:t>A pesticide is regulated; an application that tells a farmer to apply it is not. Even a disclosure standard — training data, tested crops, known failure modes — would separate a tested tool from a demonstration.</a:t>
            </a:r>
            <a:endParaRPr lang="en-US" sz="1150" dirty="0"/>
          </a:p>
        </p:txBody>
      </p:sp>
      <p:sp>
        <p:nvSpPr>
          <p:cNvPr id="12" name="Shape 10"/>
          <p:cNvSpPr/>
          <p:nvPr/>
        </p:nvSpPr>
        <p:spPr>
          <a:xfrm>
            <a:off x="777240" y="4023360"/>
            <a:ext cx="5074920" cy="1645920"/>
          </a:xfrm>
          <a:prstGeom prst="roundRect">
            <a:avLst>
              <a:gd name="adj" fmla="val 6667"/>
            </a:avLst>
          </a:prstGeom>
          <a:solidFill>
            <a:srgbClr val="20553C"/>
          </a:solidFill>
          <a:ln/>
        </p:spPr>
      </p:sp>
      <p:sp>
        <p:nvSpPr>
          <p:cNvPr id="13" name="Text 11"/>
          <p:cNvSpPr txBox="1"/>
          <p:nvPr/>
        </p:nvSpPr>
        <p:spPr>
          <a:xfrm>
            <a:off x="1069848" y="4224528"/>
            <a:ext cx="640080" cy="365760"/>
          </a:xfrm>
          <a:prstGeom prst="rect">
            <a:avLst/>
          </a:prstGeom>
          <a:noFill/>
          <a:ln/>
        </p:spPr>
        <p:txBody>
          <a:bodyPr wrap="square" lIns="0" tIns="0" rIns="0" bIns="0" rtlCol="0" anchor="ctr"/>
          <a:lstStyle/>
          <a:p>
            <a:pPr indent="0" marL="0">
              <a:buNone/>
            </a:pPr>
            <a:r>
              <a:rPr lang="en-US" sz="2000" b="1" dirty="0">
                <a:solidFill>
                  <a:srgbClr val="D9A63F"/>
                </a:solidFill>
                <a:latin typeface="Cambria" pitchFamily="34" charset="0"/>
                <a:ea typeface="Cambria" pitchFamily="34" charset="-122"/>
                <a:cs typeface="Cambria" pitchFamily="34" charset="-120"/>
              </a:rPr>
              <a:t>03</a:t>
            </a:r>
            <a:endParaRPr lang="en-US" sz="2000" dirty="0"/>
          </a:p>
        </p:txBody>
      </p:sp>
      <p:sp>
        <p:nvSpPr>
          <p:cNvPr id="14" name="Text 12"/>
          <p:cNvSpPr txBox="1"/>
          <p:nvPr/>
        </p:nvSpPr>
        <p:spPr>
          <a:xfrm>
            <a:off x="1709928" y="4224528"/>
            <a:ext cx="393192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Readiness is measured too coarsely</a:t>
            </a:r>
            <a:endParaRPr lang="en-US" sz="1550" dirty="0"/>
          </a:p>
        </p:txBody>
      </p:sp>
      <p:sp>
        <p:nvSpPr>
          <p:cNvPr id="15" name="Text 13"/>
          <p:cNvSpPr txBox="1"/>
          <p:nvPr/>
        </p:nvSpPr>
        <p:spPr>
          <a:xfrm>
            <a:off x="1709928" y="4626864"/>
            <a:ext cx="3931920" cy="914400"/>
          </a:xfrm>
          <a:prstGeom prst="rect">
            <a:avLst/>
          </a:prstGeom>
          <a:noFill/>
          <a:ln/>
        </p:spPr>
        <p:txBody>
          <a:bodyPr wrap="square" lIns="0" tIns="0" rIns="0" bIns="0" rtlCol="0" anchor="ctr"/>
          <a:lstStyle/>
          <a:p>
            <a:pPr indent="0" marL="0">
              <a:lnSpc>
                <a:spcPts val="1600"/>
              </a:lnSpc>
              <a:buNone/>
            </a:pPr>
            <a:r>
              <a:rPr lang="en-US" sz="1150" dirty="0">
                <a:solidFill>
                  <a:srgbClr val="DCE8CF"/>
                </a:solidFill>
                <a:latin typeface="Calibri" pitchFamily="34" charset="0"/>
                <a:ea typeface="Calibri" pitchFamily="34" charset="-122"/>
                <a:cs typeface="Calibri" pitchFamily="34" charset="-120"/>
              </a:rPr>
              <a:t>National and regional statistics cannot distinguish a farm blocked by connectivity from one blocked by data literacy. They look identical in aggregate and need entirely different support.</a:t>
            </a:r>
            <a:endParaRPr lang="en-US" sz="1150" dirty="0"/>
          </a:p>
        </p:txBody>
      </p:sp>
      <p:sp>
        <p:nvSpPr>
          <p:cNvPr id="16" name="Shape 14"/>
          <p:cNvSpPr/>
          <p:nvPr/>
        </p:nvSpPr>
        <p:spPr>
          <a:xfrm>
            <a:off x="6263640" y="4023360"/>
            <a:ext cx="5074920" cy="1645920"/>
          </a:xfrm>
          <a:prstGeom prst="roundRect">
            <a:avLst>
              <a:gd name="adj" fmla="val 6667"/>
            </a:avLst>
          </a:prstGeom>
          <a:solidFill>
            <a:srgbClr val="20553C"/>
          </a:solidFill>
          <a:ln/>
        </p:spPr>
      </p:sp>
      <p:sp>
        <p:nvSpPr>
          <p:cNvPr id="17" name="Text 15"/>
          <p:cNvSpPr txBox="1"/>
          <p:nvPr/>
        </p:nvSpPr>
        <p:spPr>
          <a:xfrm>
            <a:off x="6556248" y="4224528"/>
            <a:ext cx="640080" cy="365760"/>
          </a:xfrm>
          <a:prstGeom prst="rect">
            <a:avLst/>
          </a:prstGeom>
          <a:noFill/>
          <a:ln/>
        </p:spPr>
        <p:txBody>
          <a:bodyPr wrap="square" lIns="0" tIns="0" rIns="0" bIns="0" rtlCol="0" anchor="ctr"/>
          <a:lstStyle/>
          <a:p>
            <a:pPr indent="0" marL="0">
              <a:buNone/>
            </a:pPr>
            <a:r>
              <a:rPr lang="en-US" sz="2000" b="1" dirty="0">
                <a:solidFill>
                  <a:srgbClr val="D9A63F"/>
                </a:solidFill>
                <a:latin typeface="Cambria" pitchFamily="34" charset="0"/>
                <a:ea typeface="Cambria" pitchFamily="34" charset="-122"/>
                <a:cs typeface="Cambria" pitchFamily="34" charset="-120"/>
              </a:rPr>
              <a:t>04</a:t>
            </a:r>
            <a:endParaRPr lang="en-US" sz="2000" dirty="0"/>
          </a:p>
        </p:txBody>
      </p:sp>
      <p:sp>
        <p:nvSpPr>
          <p:cNvPr id="18" name="Text 16"/>
          <p:cNvSpPr txBox="1"/>
          <p:nvPr/>
        </p:nvSpPr>
        <p:spPr>
          <a:xfrm>
            <a:off x="7196328" y="4224528"/>
            <a:ext cx="393192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Sandbox testing has no status</a:t>
            </a:r>
            <a:endParaRPr lang="en-US" sz="1550" dirty="0"/>
          </a:p>
        </p:txBody>
      </p:sp>
      <p:sp>
        <p:nvSpPr>
          <p:cNvPr id="19" name="Text 17"/>
          <p:cNvSpPr txBox="1"/>
          <p:nvPr/>
        </p:nvSpPr>
        <p:spPr>
          <a:xfrm>
            <a:off x="7196328" y="4626864"/>
            <a:ext cx="3931920" cy="914400"/>
          </a:xfrm>
          <a:prstGeom prst="rect">
            <a:avLst/>
          </a:prstGeom>
          <a:noFill/>
          <a:ln/>
        </p:spPr>
        <p:txBody>
          <a:bodyPr wrap="square" lIns="0" tIns="0" rIns="0" bIns="0" rtlCol="0" anchor="ctr"/>
          <a:lstStyle/>
          <a:p>
            <a:pPr indent="0" marL="0">
              <a:lnSpc>
                <a:spcPts val="1600"/>
              </a:lnSpc>
              <a:buNone/>
            </a:pPr>
            <a:r>
              <a:rPr lang="en-US" sz="1150" dirty="0">
                <a:solidFill>
                  <a:srgbClr val="DCE8CF"/>
                </a:solidFill>
                <a:latin typeface="Calibri" pitchFamily="34" charset="0"/>
                <a:ea typeface="Calibri" pitchFamily="34" charset="-122"/>
                <a:cs typeface="Calibri" pitchFamily="34" charset="-120"/>
              </a:rPr>
              <a:t>Y.3172 defines the ML Sandbox, but no national process treats a documented sandbox trial as evidence when approving an AI-informed practice for subsidy or extension support.</a:t>
            </a:r>
            <a:endParaRPr lang="en-US" sz="1150" dirty="0"/>
          </a:p>
        </p:txBody>
      </p:sp>
      <p:sp>
        <p:nvSpPr>
          <p:cNvPr id="20" name="Text 18"/>
          <p:cNvSpPr txBox="1"/>
          <p:nvPr/>
        </p:nvSpPr>
        <p:spPr>
          <a:xfrm>
            <a:off x="777240" y="6035040"/>
            <a:ext cx="10424160" cy="365760"/>
          </a:xfrm>
          <a:prstGeom prst="rect">
            <a:avLst/>
          </a:prstGeom>
          <a:noFill/>
          <a:ln/>
        </p:spPr>
        <p:txBody>
          <a:bodyPr wrap="square" lIns="0" tIns="0" rIns="0" bIns="0" rtlCol="0" anchor="ctr"/>
          <a:lstStyle/>
          <a:p>
            <a:pPr indent="0" marL="0">
              <a:lnSpc>
                <a:spcPts val="2100"/>
              </a:lnSpc>
              <a:buNone/>
            </a:pPr>
            <a:r>
              <a:rPr lang="en-US" sz="1250" i="1" dirty="0">
                <a:solidFill>
                  <a:srgbClr val="A8BF92"/>
                </a:solidFill>
                <a:latin typeface="Calibri" pitchFamily="34" charset="0"/>
                <a:ea typeface="Calibri" pitchFamily="34" charset="-122"/>
                <a:cs typeface="Calibri" pitchFamily="34" charset="-120"/>
              </a:rPr>
              <a:t>Each of these was surfaced by building the application, not by reading about it. That is the argument for prototyping as a policy instrument.</a:t>
            </a:r>
            <a:endParaRPr lang="en-US" sz="1250" dirty="0"/>
          </a:p>
        </p:txBody>
      </p:sp>
      <p:sp>
        <p:nvSpPr>
          <p:cNvPr id="21" name="Text 19"/>
          <p:cNvSpPr txBox="1"/>
          <p:nvPr/>
        </p:nvSpPr>
        <p:spPr>
          <a:xfrm>
            <a:off x="777240" y="6291072"/>
            <a:ext cx="4572000" cy="274320"/>
          </a:xfrm>
          <a:prstGeom prst="rect">
            <a:avLst/>
          </a:prstGeom>
          <a:noFill/>
          <a:ln/>
        </p:spPr>
        <p:txBody>
          <a:bodyPr wrap="square" lIns="0" tIns="0" rIns="0" bIns="0" rtlCol="0" anchor="ctr"/>
          <a:lstStyle/>
          <a:p>
            <a:pPr indent="0" marL="0">
              <a:buNone/>
            </a:pPr>
            <a:r>
              <a:rPr lang="en-US" sz="1000" dirty="0">
                <a:solidFill>
                  <a:srgbClr val="A8BF92"/>
                </a:solidFill>
                <a:latin typeface="Calibri" pitchFamily="34" charset="0"/>
                <a:ea typeface="Calibri" pitchFamily="34" charset="-122"/>
                <a:cs typeface="Calibri" pitchFamily="34" charset="-120"/>
              </a:rPr>
              <a:t>TerraTwin · Wanas Zakri</a:t>
            </a:r>
            <a:endParaRPr lang="en-US" sz="1000" dirty="0"/>
          </a:p>
        </p:txBody>
      </p:sp>
      <p:sp>
        <p:nvSpPr>
          <p:cNvPr id="22" name="Text 20"/>
          <p:cNvSpPr txBox="1"/>
          <p:nvPr/>
        </p:nvSpPr>
        <p:spPr>
          <a:xfrm>
            <a:off x="10865815" y="6291072"/>
            <a:ext cx="548640" cy="274320"/>
          </a:xfrm>
          <a:prstGeom prst="rect">
            <a:avLst/>
          </a:prstGeom>
          <a:noFill/>
          <a:ln/>
        </p:spPr>
        <p:txBody>
          <a:bodyPr wrap="square" lIns="0" tIns="0" rIns="0" bIns="0" rtlCol="0" anchor="ctr"/>
          <a:lstStyle/>
          <a:p>
            <a:pPr algn="r" indent="0" marL="0">
              <a:buNone/>
            </a:pPr>
            <a:r>
              <a:rPr lang="en-US" sz="1000" dirty="0">
                <a:solidFill>
                  <a:srgbClr val="A8BF9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soil-bowl.png">    </p:cNvPr>
          <p:cNvPicPr>
            <a:picLocks noChangeAspect="1"/>
          </p:cNvPicPr>
          <p:nvPr/>
        </p:nvPicPr>
        <p:blipFill>
          <a:blip r:embed="rId2"/>
          <a:stretch>
            <a:fillRect/>
          </a:stretch>
        </p:blipFill>
        <p:spPr>
          <a:xfrm>
            <a:off x="8321040" y="4114800"/>
            <a:ext cx="3566160" cy="2596896"/>
          </a:xfrm>
          <a:prstGeom prst="rect">
            <a:avLst/>
          </a:prstGeom>
        </p:spPr>
      </p:pic>
      <p:pic>
        <p:nvPicPr>
          <p:cNvPr id="3" name="Image 1" descr="/home/claude/deck/assets/corn-healthy.png">    </p:cNvPr>
          <p:cNvPicPr>
            <a:picLocks noChangeAspect="1"/>
          </p:cNvPicPr>
          <p:nvPr/>
        </p:nvPicPr>
        <p:blipFill>
          <a:blip r:embed="rId3"/>
          <a:stretch>
            <a:fillRect/>
          </a:stretch>
        </p:blipFill>
        <p:spPr>
          <a:xfrm>
            <a:off x="9509760" y="2148840"/>
            <a:ext cx="1051560" cy="1947672"/>
          </a:xfrm>
          <a:prstGeom prst="rect">
            <a:avLst/>
          </a:prstGeom>
        </p:spPr>
      </p:pic>
      <p:sp>
        <p:nvSpPr>
          <p:cNvPr id="4" name="Text 0"/>
          <p:cNvSpPr txBox="1"/>
          <p:nvPr/>
        </p:nvSpPr>
        <p:spPr>
          <a:xfrm>
            <a:off x="777240" y="914400"/>
            <a:ext cx="8229600" cy="256032"/>
          </a:xfrm>
          <a:prstGeom prst="rect">
            <a:avLst/>
          </a:prstGeom>
          <a:noFill/>
          <a:ln/>
        </p:spPr>
        <p:txBody>
          <a:bodyPr wrap="square" lIns="0" tIns="0" rIns="0" bIns="0" rtlCol="0" anchor="ctr"/>
          <a:lstStyle/>
          <a:p>
            <a:pPr indent="0" marL="0">
              <a:buNone/>
            </a:pPr>
            <a:r>
              <a:rPr lang="en-US" sz="1100" b="1" spc="260" kern="0" dirty="0">
                <a:solidFill>
                  <a:srgbClr val="A8BF92"/>
                </a:solidFill>
                <a:latin typeface="Calibri" pitchFamily="34" charset="0"/>
                <a:ea typeface="Calibri" pitchFamily="34" charset="-122"/>
                <a:cs typeface="Calibri" pitchFamily="34" charset="-120"/>
              </a:rPr>
              <a:t>WHERE IT GOES NEXT</a:t>
            </a:r>
            <a:endParaRPr lang="en-US" sz="1100" dirty="0"/>
          </a:p>
        </p:txBody>
      </p:sp>
      <p:sp>
        <p:nvSpPr>
          <p:cNvPr id="5" name="Text 1"/>
          <p:cNvSpPr txBox="1"/>
          <p:nvPr/>
        </p:nvSpPr>
        <p:spPr>
          <a:xfrm>
            <a:off x="777240" y="1298448"/>
            <a:ext cx="6583680" cy="210312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Built to be</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replaced from</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the inside.</a:t>
            </a:r>
            <a:endParaRPr lang="en-US" sz="4200" dirty="0"/>
          </a:p>
        </p:txBody>
      </p:sp>
      <p:sp>
        <p:nvSpPr>
          <p:cNvPr id="6" name="Text 2"/>
          <p:cNvSpPr txBox="1"/>
          <p:nvPr/>
        </p:nvSpPr>
        <p:spPr>
          <a:xfrm>
            <a:off x="777240" y="3520440"/>
            <a:ext cx="6766560" cy="914400"/>
          </a:xfrm>
          <a:prstGeom prst="rect">
            <a:avLst/>
          </a:prstGeom>
          <a:noFill/>
          <a:ln/>
        </p:spPr>
        <p:txBody>
          <a:bodyPr wrap="square" lIns="0" tIns="0" rIns="0" bIns="0" rtlCol="0" anchor="ctr"/>
          <a:lstStyle/>
          <a:p>
            <a:pPr indent="0" marL="0">
              <a:lnSpc>
                <a:spcPts val="2000"/>
              </a:lnSpc>
              <a:buNone/>
            </a:pPr>
            <a:r>
              <a:rPr lang="en-US" sz="1400" dirty="0">
                <a:solidFill>
                  <a:srgbClr val="DCE8CF"/>
                </a:solidFill>
                <a:latin typeface="Calibri" pitchFamily="34" charset="0"/>
                <a:ea typeface="Calibri" pitchFamily="34" charset="-122"/>
                <a:cs typeface="Calibri" pitchFamily="34" charset="-120"/>
              </a:rPr>
              <a:t>The Model node is rule-based today. Every other node — collection, pre-processing, policy, distribution — is built so that swapping in a predictor trained on real Jazan farm records changes nothing around it. The plant register is already accumulating those records.</a:t>
            </a:r>
            <a:endParaRPr lang="en-US" sz="1400" dirty="0"/>
          </a:p>
        </p:txBody>
      </p:sp>
      <p:sp>
        <p:nvSpPr>
          <p:cNvPr id="7" name="Text 3"/>
          <p:cNvSpPr txBox="1"/>
          <p:nvPr/>
        </p:nvSpPr>
        <p:spPr>
          <a:xfrm>
            <a:off x="777240" y="4526280"/>
            <a:ext cx="6583680" cy="1280160"/>
          </a:xfrm>
          <a:prstGeom prst="rect">
            <a:avLst/>
          </a:prstGeom>
          <a:noFill/>
          <a:ln/>
        </p:spPr>
        <p:txBody>
          <a:bodyPr wrap="square" lIns="0" tIns="0" rIns="0" bIns="0" rtlCol="0" anchor="ctr"/>
          <a:lstStyle/>
          <a:p>
            <a:pPr marL="342900" indent="-342900">
              <a:lnSpc>
                <a:spcPts val="1550"/>
              </a:lnSpc>
              <a:spcAft>
                <a:spcPts val="700"/>
              </a:spcAft>
              <a:buSzPct val="100000"/>
              <a:buChar char="•"/>
            </a:pPr>
            <a:r>
              <a:rPr lang="en-US" sz="1200" dirty="0">
                <a:solidFill>
                  <a:srgbClr val="A8BF92"/>
                </a:solidFill>
                <a:latin typeface="Calibri" pitchFamily="34" charset="0"/>
                <a:ea typeface="Calibri" pitchFamily="34" charset="-122"/>
                <a:cs typeface="Calibri" pitchFamily="34" charset="-120"/>
              </a:rPr>
              <a:t>Train the Model node on collected farm records</a:t>
            </a:r>
            <a:endParaRPr lang="en-US" sz="1200" dirty="0"/>
          </a:p>
          <a:p>
            <a:pPr marL="342900" indent="-342900">
              <a:lnSpc>
                <a:spcPts val="1550"/>
              </a:lnSpc>
              <a:spcAft>
                <a:spcPts val="700"/>
              </a:spcAft>
              <a:buSzPct val="100000"/>
              <a:buChar char="•"/>
            </a:pPr>
            <a:r>
              <a:rPr lang="en-US" sz="1200" dirty="0">
                <a:solidFill>
                  <a:srgbClr val="A8BF92"/>
                </a:solidFill>
                <a:latin typeface="Calibri" pitchFamily="34" charset="0"/>
                <a:ea typeface="Calibri" pitchFamily="34" charset="-122"/>
                <a:cs typeface="Calibri" pitchFamily="34" charset="-120"/>
              </a:rPr>
              <a:t>Extend the climate envelope to all fifteen registered crops</a:t>
            </a:r>
            <a:endParaRPr lang="en-US" sz="1200" dirty="0"/>
          </a:p>
          <a:p>
            <a:pPr marL="342900" indent="-342900">
              <a:lnSpc>
                <a:spcPts val="1550"/>
              </a:lnSpc>
              <a:spcAft>
                <a:spcPts val="700"/>
              </a:spcAft>
              <a:buSzPct val="100000"/>
              <a:buChar char="•"/>
            </a:pPr>
            <a:r>
              <a:rPr lang="en-US" sz="1200" dirty="0">
                <a:solidFill>
                  <a:srgbClr val="A8BF92"/>
                </a:solidFill>
                <a:latin typeface="Calibri" pitchFamily="34" charset="0"/>
                <a:ea typeface="Calibri" pitchFamily="34" charset="-122"/>
                <a:cs typeface="Calibri" pitchFamily="34" charset="-120"/>
              </a:rPr>
              <a:t>Move the forum and market to a server with real identity</a:t>
            </a:r>
            <a:endParaRPr lang="en-US" sz="1200" dirty="0"/>
          </a:p>
          <a:p>
            <a:pPr marL="342900" indent="-342900">
              <a:lnSpc>
                <a:spcPts val="1550"/>
              </a:lnSpc>
              <a:spcAft>
                <a:spcPts val="700"/>
              </a:spcAft>
              <a:buSzPct val="100000"/>
              <a:buChar char="•"/>
            </a:pPr>
            <a:r>
              <a:rPr lang="en-US" sz="1200" dirty="0">
                <a:solidFill>
                  <a:srgbClr val="A8BF92"/>
                </a:solidFill>
                <a:latin typeface="Calibri" pitchFamily="34" charset="0"/>
                <a:ea typeface="Calibri" pitchFamily="34" charset="-122"/>
                <a:cs typeface="Calibri" pitchFamily="34" charset="-120"/>
              </a:rPr>
              <a:t>Validate the vision diagnosis against expert labelling on Jazan crops</a:t>
            </a:r>
            <a:endParaRPr lang="en-US" sz="1200" dirty="0"/>
          </a:p>
          <a:p>
            <a:pPr marL="342900" indent="-342900">
              <a:lnSpc>
                <a:spcPts val="1550"/>
              </a:lnSpc>
              <a:spcAft>
                <a:spcPts val="700"/>
              </a:spcAft>
              <a:buSzPct val="100000"/>
              <a:buChar char="•"/>
            </a:pPr>
            <a:r>
              <a:rPr lang="en-US" sz="1200" dirty="0">
                <a:solidFill>
                  <a:srgbClr val="A8BF92"/>
                </a:solidFill>
                <a:latin typeface="Calibri" pitchFamily="34" charset="0"/>
                <a:ea typeface="Calibri" pitchFamily="34" charset="-122"/>
                <a:cs typeface="Calibri" pitchFamily="34" charset="-120"/>
              </a:rPr>
              <a:t>Ship an Arabic right-to-left interface for field use</a:t>
            </a:r>
            <a:endParaRPr lang="en-US" sz="1200" dirty="0"/>
          </a:p>
        </p:txBody>
      </p:sp>
      <p:sp>
        <p:nvSpPr>
          <p:cNvPr id="8" name="Shape 4"/>
          <p:cNvSpPr/>
          <p:nvPr/>
        </p:nvSpPr>
        <p:spPr>
          <a:xfrm>
            <a:off x="777240" y="6053328"/>
            <a:ext cx="3108960" cy="0"/>
          </a:xfrm>
          <a:prstGeom prst="line">
            <a:avLst/>
          </a:prstGeom>
          <a:noFill/>
          <a:ln w="25400">
            <a:solidFill>
              <a:srgbClr val="40916C"/>
            </a:solidFill>
            <a:prstDash val="solid"/>
          </a:ln>
        </p:spPr>
      </p:sp>
      <p:sp>
        <p:nvSpPr>
          <p:cNvPr id="9" name="Text 5"/>
          <p:cNvSpPr txBox="1"/>
          <p:nvPr/>
        </p:nvSpPr>
        <p:spPr>
          <a:xfrm>
            <a:off x="777240" y="6181344"/>
            <a:ext cx="4572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Wanas Zakri</a:t>
            </a:r>
            <a:endParaRPr lang="en-US" sz="1350" dirty="0"/>
          </a:p>
        </p:txBody>
      </p:sp>
      <p:sp>
        <p:nvSpPr>
          <p:cNvPr id="10" name="Text 6"/>
          <p:cNvSpPr txBox="1"/>
          <p:nvPr/>
        </p:nvSpPr>
        <p:spPr>
          <a:xfrm>
            <a:off x="777240" y="6437376"/>
            <a:ext cx="6400800" cy="274320"/>
          </a:xfrm>
          <a:prstGeom prst="rect">
            <a:avLst/>
          </a:prstGeom>
          <a:noFill/>
          <a:ln/>
        </p:spPr>
        <p:txBody>
          <a:bodyPr wrap="square" lIns="0" tIns="0" rIns="0" bIns="0" rtlCol="0" anchor="ctr"/>
          <a:lstStyle/>
          <a:p>
            <a:pPr indent="0" marL="0">
              <a:lnSpc>
                <a:spcPts val="2100"/>
              </a:lnSpc>
              <a:buNone/>
            </a:pPr>
            <a:r>
              <a:rPr lang="en-US" sz="1100" dirty="0">
                <a:solidFill>
                  <a:srgbClr val="A8BF92"/>
                </a:solidFill>
                <a:latin typeface="Calibri" pitchFamily="34" charset="0"/>
                <a:ea typeface="Calibri" pitchFamily="34" charset="-122"/>
                <a:cs typeface="Calibri" pitchFamily="34" charset="-120"/>
              </a:rPr>
              <a:t>TerraTwin · ITU AI Readiness Hackathon, Kingdom of Saudi Arabia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TerraTwin — ITU AI Readiness Hackathon</dc:title>
  <dc:subject>AI readiness digital twin for sustainable agriculture in Jazan</dc:subject>
  <dc:creator>Wanas Zakri</dc:creator>
  <cp:lastModifiedBy>Wanas Zakri</cp:lastModifiedBy>
  <cp:revision>1</cp:revision>
  <dcterms:created xsi:type="dcterms:W3CDTF">2026-08-30T15:33:17Z</dcterms:created>
  <dcterms:modified xsi:type="dcterms:W3CDTF">2026-08-30T15:33:17Z</dcterms:modified>
</cp:coreProperties>
</file>